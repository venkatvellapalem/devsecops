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outcome, not the technology. One sentence: every time we push code, six automated checks run, and if any one fails the release is physically impossible. Not discouraged, not flagged for review. Impossible. Then say you have before-and-after proof. Total time on this slide: 30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analogy to use: a toy racecar factory. In the old way you build the car, box it, and ship it straight to the shelf. If the battery explodes in an 11-year-old's hands, you find out from the angry phone call. DevSecOps builds a conveyor belt with inspector robots, and an iron gate that will not open unless every inspector gives a green stamp.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once, naming each stage in one breath. Do not explain any of them yet — the next slides do that. Land on the barrier: that dashed line is the whole security control. If asked 'what if someone ignores it', the answer is on the next slides: they cannot, it is the dependency graph.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slide. Name each column in one sentence and move on. The point is the amber bar at the bottom, which is the empirical version of the claim: in run 2, sca passed and image-scan failed on the same commit. If the audience only remembers one slide, make it that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security point: a container running as root means if someone gets in, they are already the superuser. That is a one-line fix in the Dockerfile that prevents a whole class of escalation. The engineering point is fail-fast: cheap checks run first and in parallel, so you are not waiting two minutes to learn about a typo.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gate that catches the bugs you personally wrote. Emphasise the concrete finding: a request parameter reaching a shell is not theoretical, it is remote code execution, and it takes one careless line. Then flag the limit honestly — this gate cannot see your libraries, which is exactly why the next gate exists.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CVE to name: requests 2.19.1 fails to strip the Authorization header when a site redirects you from HTTPS to HTTP. That means your password goes to wherever the redirect points. It is a one-character fix in a requirements file that prevents a credential leak.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gate people forget, and it is the one with the shortest fuse. A dependency CVE might take months to exploit; a leaked key is usable the second it is public. If you only add one gate beyond the basics, add this one. Also worth mentioning: a scanner that never fires is usually misconfigured, not proof you are clean.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on the ignore-unfixed decision — it is the most opinionated choice in the project. Without it the gate is red on every commit forever, and a gate that is always red gets ignored. That is worse than no gate. The principle: fail on what the team can actually fix.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line of code worth showing. Read the needs: array aloud, then say the sentence on the slide: GitHub will not start this job unless every listed job succeeded. There is no script and no review step. If someone asks how it can be bypassed, the answer is that you would have to edit this file, and that edit is itself a reviewed commit.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question: 'what if someone merges anyway?' Answer: merging does not publish. The deploy job only runs on main, and only if all six gates pass. A bad merge leaves you with a green repository and no new published image — which is exactly the outcome you want. To bypass it you would have to edit the workflow, which is itself a reviewed commit.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red bar is the mistake the original brief made and it is worth dwelling on: rebuilding inside the deploy job means you scan artifact A and ship artifact B, and the scan becomes theatre. Then give the concrete proof from this project -- CI pushed a specific digest and the host runs that same digest. Verifiable, not claimed.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rows. Run 1: three gates red, deploy skipped. Run 2: the eye-opener. Run 3: all green, image published. Run 5: a planted secret blocked the release and the notification fired. Note the grey cells -- hadolint and gitleaks did not exist in runs 1 and 2, and the dashboard reports those as 'not yet added' rather than pretending they passed.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single argument in the whole project, and it is empirical rather than theoretical. If you memorise one thing, memorise this run. It also doubles as the honest answer to 'isn't this redundant?' and to 'couldn't we just use one tool?'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framing: the host does two things -- pull and run. Every build and every scan happens on GitHub's ephemeral runners. This is worth saying plainly because it answers the question 'do we need to maintain a build server?'. You do not. That machine never builds the image it runs, which is exactly why the provenance claim holds.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this live during the presentation if you have network. Click one gate and let the inspector panel appear — it shows what that gate checks, how many runs it has blocked, and the exact command to reproduce it locally. That interactivity is what makes it feel like a product rather than a status page.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judgement, not tooling. Anyone can run a scanner; noticing that the supplied configuration can never pass is the actual skill. Frame it as 'we verified the controls work' rather than 'the brief was wrong' — you tested the gate by proving it can fail.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this slide, and do not bury it at the back. Volunteering the limitations is what separates a credible engineer from someone who read a tool's marketing page. The freshness point is the one people find most surprising: your pipeline can go red with no code change at all.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self-hosted runner point is a genuine trap and worth dwelling on. A public repository plus a self-hosted runner means anyone can open a pull request and land code on your machine. Poll-based deployment has none of that exposure. Also mention that rollback by digest is what makes deploys reversible without a rebuild.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12-line claim is not aspirational, it is measured — see the target repository. The trap is the thing that costs people an afternoon: a reusable workflow gets the caller's token permissions, and those permissions are not inherited, so the caller has to opt in explicitly.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slide aloud. Say 'these are all defined in the handout' and move on. It exists so that the vocabulary is on the record and nobody has to feel behind on acronyms.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sentence, not the technology: a gate people route around is worse than no gate. Then offer the three things a sceptical audience will want — the failing run, the passing run, and the dashboard. Have those URLs ready to paste into chat.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10332720" cy="1097280"/>
          </a:xfrm>
          <a:prstGeom prst="rect">
            <a:avLst/>
          </a:prstGeom>
          <a:noFill/>
        </p:spPr>
        <p:txBody>
          <a:bodyPr wrap="square">
            <a:spAutoFit/>
          </a:bodyPr>
          <a:lstStyle/>
          <a:p>
            <a:pPr algn="l">
              <a:lnSpc>
                <a:spcPct val="115000"/>
              </a:lnSpc>
              <a:spcAft>
                <a:spcPts val="0"/>
              </a:spcAft>
            </a:pPr>
            <a:r>
              <a:rPr sz="5000" b="1">
                <a:solidFill>
                  <a:srgbClr val="FFFFFF"/>
                </a:solidFill>
                <a:latin typeface="Segoe UI"/>
              </a:rPr>
              <a:t>Secure DevOps Pipeline</a:t>
            </a:r>
          </a:p>
        </p:txBody>
      </p:sp>
      <p:sp>
        <p:nvSpPr>
          <p:cNvPr id="5" name="TextBox 4"/>
          <p:cNvSpPr txBox="1"/>
          <p:nvPr/>
        </p:nvSpPr>
        <p:spPr>
          <a:xfrm>
            <a:off x="914400" y="3063240"/>
            <a:ext cx="10332720" cy="731520"/>
          </a:xfrm>
          <a:prstGeom prst="rect">
            <a:avLst/>
          </a:prstGeom>
          <a:noFill/>
        </p:spPr>
        <p:txBody>
          <a:bodyPr wrap="square">
            <a:spAutoFit/>
          </a:bodyPr>
          <a:lstStyle/>
          <a:p>
            <a:pPr algn="l">
              <a:lnSpc>
                <a:spcPct val="115000"/>
              </a:lnSpc>
              <a:spcAft>
                <a:spcPts val="0"/>
              </a:spcAft>
            </a:pPr>
            <a:r>
              <a:rPr sz="2000" b="0">
                <a:solidFill>
                  <a:srgbClr val="94A3B8"/>
                </a:solidFill>
                <a:latin typeface="Segoe UI"/>
              </a:rPr>
              <a:t>Building a CI/CD pipeline where security failures are physically unable to ship</a:t>
            </a:r>
          </a:p>
        </p:txBody>
      </p:sp>
      <p:sp>
        <p:nvSpPr>
          <p:cNvPr id="6" name="Rectangle 5"/>
          <p:cNvSpPr/>
          <p:nvPr/>
        </p:nvSpPr>
        <p:spPr>
          <a:xfrm>
            <a:off x="914400" y="3977639"/>
            <a:ext cx="2011680" cy="411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43400"/>
            <a:ext cx="10332720" cy="914400"/>
          </a:xfrm>
          <a:prstGeom prst="rect">
            <a:avLst/>
          </a:prstGeom>
          <a:noFill/>
        </p:spPr>
        <p:txBody>
          <a:bodyPr wrap="square">
            <a:spAutoFit/>
          </a:bodyPr>
          <a:lstStyle/>
          <a:p>
            <a:pPr algn="l">
              <a:lnSpc>
                <a:spcPct val="115000"/>
              </a:lnSpc>
              <a:spcAft>
                <a:spcPts val="600"/>
              </a:spcAft>
            </a:pPr>
            <a:r>
              <a:rPr sz="1700" b="0">
                <a:solidFill>
                  <a:srgbClr val="CBD5E1"/>
                </a:solidFill>
                <a:latin typeface="Segoe UI"/>
              </a:rPr>
              <a:t>Six automated gates  ·  one locked door  ·  verifiable proof</a:t>
            </a:r>
          </a:p>
          <a:p>
            <a:pPr algn="l">
              <a:lnSpc>
                <a:spcPct val="115000"/>
              </a:lnSpc>
              <a:spcAft>
                <a:spcPts val="600"/>
              </a:spcAft>
            </a:pPr>
            <a:r>
              <a:rPr sz="1400" b="0">
                <a:solidFill>
                  <a:srgbClr val="94A3B8"/>
                </a:solidFill>
                <a:latin typeface="Segoe UI"/>
              </a:rPr>
              <a:t>BCSSL Cybersecurity Lab Series — Project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The problem we are solving</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why security usually happens far too late</a:t>
            </a:r>
          </a:p>
        </p:txBody>
      </p:sp>
      <p:sp>
        <p:nvSpPr>
          <p:cNvPr id="5" name="TextBox 4"/>
          <p:cNvSpPr txBox="1"/>
          <p:nvPr/>
        </p:nvSpPr>
        <p:spPr>
          <a:xfrm>
            <a:off x="685800" y="1691640"/>
            <a:ext cx="10789920" cy="4206240"/>
          </a:xfrm>
          <a:prstGeom prst="rect">
            <a:avLst/>
          </a:prstGeom>
          <a:noFill/>
        </p:spPr>
        <p:txBody>
          <a:bodyPr wrap="square">
            <a:spAutoFit/>
          </a:bodyPr>
          <a:lstStyle/>
          <a:p>
            <a:pPr algn="l">
              <a:lnSpc>
                <a:spcPct val="115000"/>
              </a:lnSpc>
              <a:spcAft>
                <a:spcPts val="1300"/>
              </a:spcAft>
            </a:pPr>
            <a:r>
              <a:rPr sz="1700" b="1">
                <a:solidFill>
                  <a:srgbClr val="2563EB"/>
                </a:solidFill>
                <a:latin typeface="Segoe UI"/>
              </a:rPr>
              <a:t>▪  </a:t>
            </a:r>
            <a:r>
              <a:rPr sz="1700" b="1">
                <a:solidFill>
                  <a:srgbClr val="111827"/>
                </a:solidFill>
                <a:latin typeface="Segoe UI"/>
              </a:rPr>
              <a:t>Old way:  </a:t>
            </a:r>
            <a:r>
              <a:rPr sz="1700" b="0">
                <a:solidFill>
                  <a:srgbClr val="374151"/>
                </a:solidFill>
                <a:latin typeface="Segoe UI"/>
              </a:rPr>
              <a:t>write code, build it, ship it. If it had a flaw, you found out from a customer.</a:t>
            </a:r>
          </a:p>
          <a:p>
            <a:pPr algn="l">
              <a:lnSpc>
                <a:spcPct val="115000"/>
              </a:lnSpc>
              <a:spcAft>
                <a:spcPts val="1300"/>
              </a:spcAft>
            </a:pPr>
            <a:r>
              <a:rPr sz="1700" b="1">
                <a:solidFill>
                  <a:srgbClr val="2563EB"/>
                </a:solidFill>
                <a:latin typeface="Segoe UI"/>
              </a:rPr>
              <a:t>▪  </a:t>
            </a:r>
            <a:r>
              <a:rPr sz="1700" b="1">
                <a:solidFill>
                  <a:srgbClr val="111827"/>
                </a:solidFill>
                <a:latin typeface="Segoe UI"/>
              </a:rPr>
              <a:t>The cost curve:  </a:t>
            </a:r>
            <a:r>
              <a:rPr sz="1700" b="0">
                <a:solidFill>
                  <a:srgbClr val="374151"/>
                </a:solidFill>
                <a:latin typeface="Segoe UI"/>
              </a:rPr>
              <a:t>a bug caught at your keyboard costs minutes. The same bug in production costs an incident call, a patch, and trust.</a:t>
            </a:r>
          </a:p>
          <a:p>
            <a:pPr algn="l">
              <a:lnSpc>
                <a:spcPct val="115000"/>
              </a:lnSpc>
              <a:spcAft>
                <a:spcPts val="1300"/>
              </a:spcAft>
            </a:pPr>
            <a:r>
              <a:rPr sz="1700" b="1">
                <a:solidFill>
                  <a:srgbClr val="2563EB"/>
                </a:solidFill>
                <a:latin typeface="Segoe UI"/>
              </a:rPr>
              <a:t>▪  </a:t>
            </a:r>
            <a:r>
              <a:rPr sz="1700" b="1">
                <a:solidFill>
                  <a:srgbClr val="111827"/>
                </a:solidFill>
                <a:latin typeface="Segoe UI"/>
              </a:rPr>
              <a:t>Why nobody fixes it:  </a:t>
            </a:r>
            <a:r>
              <a:rPr sz="1700" b="0">
                <a:solidFill>
                  <a:srgbClr val="374151"/>
                </a:solidFill>
                <a:latin typeface="Segoe UI"/>
              </a:rPr>
              <a:t>security reviews happen at the end, when the release is already built and everyone is tired.</a:t>
            </a:r>
          </a:p>
          <a:p>
            <a:pPr algn="l">
              <a:lnSpc>
                <a:spcPct val="115000"/>
              </a:lnSpc>
              <a:spcAft>
                <a:spcPts val="1300"/>
              </a:spcAft>
            </a:pPr>
            <a:r>
              <a:rPr sz="1700" b="1">
                <a:solidFill>
                  <a:srgbClr val="2563EB"/>
                </a:solidFill>
                <a:latin typeface="Segoe UI"/>
              </a:rPr>
              <a:t>▪  </a:t>
            </a:r>
            <a:r>
              <a:rPr sz="1700" b="1">
                <a:solidFill>
                  <a:srgbClr val="111827"/>
                </a:solidFill>
                <a:latin typeface="Segoe UI"/>
              </a:rPr>
              <a:t>The fix:  </a:t>
            </a:r>
            <a:r>
              <a:rPr sz="1700" b="0">
                <a:solidFill>
                  <a:srgbClr val="374151"/>
                </a:solidFill>
                <a:latin typeface="Segoe UI"/>
              </a:rPr>
              <a:t>move the checks to the cheapest possible moment — the moment you push.</a:t>
            </a:r>
          </a:p>
        </p:txBody>
      </p:sp>
      <p:sp>
        <p:nvSpPr>
          <p:cNvPr id="6" name="Rounded Rectangle 5"/>
          <p:cNvSpPr/>
          <p:nvPr/>
        </p:nvSpPr>
        <p:spPr>
          <a:xfrm>
            <a:off x="685800" y="47091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37176"/>
            <a:ext cx="10241280" cy="1005840"/>
          </a:xfrm>
          <a:prstGeom prst="rect">
            <a:avLst/>
          </a:prstGeom>
          <a:noFill/>
        </p:spPr>
        <p:txBody>
          <a:bodyPr wrap="square">
            <a:spAutoFit/>
          </a:bodyPr>
          <a:lstStyle/>
          <a:p>
            <a:pPr algn="l">
              <a:lnSpc>
                <a:spcPct val="115000"/>
              </a:lnSpc>
              <a:spcAft>
                <a:spcPts val="300"/>
              </a:spcAft>
            </a:pPr>
            <a:r>
              <a:rPr sz="1200" b="1">
                <a:solidFill>
                  <a:srgbClr val="DC2626"/>
                </a:solidFill>
                <a:latin typeface="Segoe UI"/>
              </a:rPr>
              <a:t>THE ONE IDEA</a:t>
            </a:r>
          </a:p>
          <a:p>
            <a:pPr algn="l">
              <a:lnSpc>
                <a:spcPct val="115000"/>
              </a:lnSpc>
              <a:spcAft>
                <a:spcPts val="300"/>
              </a:spcAft>
            </a:pPr>
            <a:r>
              <a:rPr sz="1600" b="0">
                <a:solidFill>
                  <a:srgbClr val="374151"/>
                </a:solidFill>
                <a:latin typeface="Segoe UI"/>
              </a:rPr>
              <a:t>A gate is not a report someone reads later. It is a locked door wired to the checks. Nobody has to remember anything.</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What we built, with one picture</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the conveyor belt and the iron gate</a:t>
            </a:r>
          </a:p>
        </p:txBody>
      </p:sp>
      <p:pic>
        <p:nvPicPr>
          <p:cNvPr id="5" name="Picture 4" descr="pipeline.png"/>
          <p:cNvPicPr>
            <a:picLocks noChangeAspect="1"/>
          </p:cNvPicPr>
          <p:nvPr/>
        </p:nvPicPr>
        <p:blipFill>
          <a:blip r:embed="rId2"/>
          <a:stretch>
            <a:fillRect/>
          </a:stretch>
        </p:blipFill>
        <p:spPr>
          <a:xfrm>
            <a:off x="521207" y="1920240"/>
            <a:ext cx="11155680" cy="2402761"/>
          </a:xfrm>
          <a:prstGeom prst="rect">
            <a:avLst/>
          </a:prstGeom>
        </p:spPr>
      </p:pic>
      <p:sp>
        <p:nvSpPr>
          <p:cNvPr id="6" name="Rounded Rectangle 5"/>
          <p:cNvSpPr/>
          <p:nvPr/>
        </p:nvSpPr>
        <p:spPr>
          <a:xfrm>
            <a:off x="685800" y="44805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608576"/>
            <a:ext cx="10241280" cy="1005840"/>
          </a:xfrm>
          <a:prstGeom prst="rect">
            <a:avLst/>
          </a:prstGeom>
          <a:noFill/>
        </p:spPr>
        <p:txBody>
          <a:bodyPr wrap="square">
            <a:spAutoFit/>
          </a:bodyPr>
          <a:lstStyle/>
          <a:p>
            <a:pPr algn="l">
              <a:lnSpc>
                <a:spcPct val="115000"/>
              </a:lnSpc>
              <a:spcAft>
                <a:spcPts val="300"/>
              </a:spcAft>
            </a:pPr>
            <a:r>
              <a:rPr sz="1200" b="1">
                <a:solidFill>
                  <a:srgbClr val="2563EB"/>
                </a:solidFill>
                <a:latin typeface="Segoe UI"/>
              </a:rPr>
              <a:t>IN PLAIN WORDS</a:t>
            </a:r>
          </a:p>
          <a:p>
            <a:pPr algn="l">
              <a:lnSpc>
                <a:spcPct val="115000"/>
              </a:lnSpc>
              <a:spcAft>
                <a:spcPts val="300"/>
              </a:spcAft>
            </a:pPr>
            <a:r>
              <a:rPr sz="1600" b="0">
                <a:solidFill>
                  <a:srgbClr val="374151"/>
                </a:solidFill>
                <a:latin typeface="Segoe UI"/>
              </a:rPr>
              <a:t>Every push runs six inspectors. Each one either stamps the build or slams the gate. The gate is wired to all six — so a failure on the left makes the release impossible on the right.</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Why six gates and not one</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each gate inspects something the others structurally cannot see</a:t>
            </a:r>
          </a:p>
        </p:txBody>
      </p:sp>
      <p:pic>
        <p:nvPicPr>
          <p:cNvPr id="5" name="Picture 4" descr="coverage.png"/>
          <p:cNvPicPr>
            <a:picLocks noChangeAspect="1"/>
          </p:cNvPicPr>
          <p:nvPr/>
        </p:nvPicPr>
        <p:blipFill>
          <a:blip r:embed="rId2"/>
          <a:stretch>
            <a:fillRect/>
          </a:stretch>
        </p:blipFill>
        <p:spPr>
          <a:xfrm>
            <a:off x="609447" y="1783080"/>
            <a:ext cx="10972800" cy="2954215"/>
          </a:xfrm>
          <a:prstGeom prst="rect">
            <a:avLst/>
          </a:prstGeom>
        </p:spPr>
      </p:pic>
      <p:sp>
        <p:nvSpPr>
          <p:cNvPr id="6" name="TextBox 5"/>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Gate 1 — hadolint</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lint the recipe before you turn on the oven</a:t>
            </a:r>
          </a:p>
        </p:txBody>
      </p:sp>
      <p:sp>
        <p:nvSpPr>
          <p:cNvPr id="5" name="TextBox 4"/>
          <p:cNvSpPr txBox="1"/>
          <p:nvPr/>
        </p:nvSpPr>
        <p:spPr>
          <a:xfrm>
            <a:off x="685800" y="1691640"/>
            <a:ext cx="10789920" cy="4206240"/>
          </a:xfrm>
          <a:prstGeom prst="rect">
            <a:avLst/>
          </a:prstGeom>
          <a:noFill/>
        </p:spPr>
        <p:txBody>
          <a:bodyPr wrap="square">
            <a:spAutoFit/>
          </a:bodyPr>
          <a:lstStyle/>
          <a:p>
            <a:pPr algn="l">
              <a:lnSpc>
                <a:spcPct val="115000"/>
              </a:lnSpc>
              <a:spcAft>
                <a:spcPts val="1300"/>
              </a:spcAft>
            </a:pPr>
            <a:r>
              <a:rPr sz="1700" b="1">
                <a:solidFill>
                  <a:srgbClr val="2563EB"/>
                </a:solidFill>
                <a:latin typeface="Segoe UI"/>
              </a:rPr>
              <a:t>▪  </a:t>
            </a:r>
            <a:r>
              <a:rPr sz="1700" b="1">
                <a:solidFill>
                  <a:srgbClr val="111827"/>
                </a:solidFill>
                <a:latin typeface="Segoe UI"/>
              </a:rPr>
              <a:t>What it is:  </a:t>
            </a:r>
            <a:r>
              <a:rPr sz="1700" b="0">
                <a:solidFill>
                  <a:srgbClr val="374151"/>
                </a:solidFill>
                <a:latin typeface="Segoe UI"/>
              </a:rPr>
              <a:t>a linter for your Dockerfile — the recipe that builds the container.</a:t>
            </a:r>
          </a:p>
          <a:p>
            <a:pPr algn="l">
              <a:lnSpc>
                <a:spcPct val="115000"/>
              </a:lnSpc>
              <a:spcAft>
                <a:spcPts val="1300"/>
              </a:spcAft>
            </a:pPr>
            <a:r>
              <a:rPr sz="1700" b="1">
                <a:solidFill>
                  <a:srgbClr val="2563EB"/>
                </a:solidFill>
                <a:latin typeface="Segoe UI"/>
              </a:rPr>
              <a:t>▪  </a:t>
            </a:r>
            <a:r>
              <a:rPr sz="1700" b="1">
                <a:solidFill>
                  <a:srgbClr val="111827"/>
                </a:solidFill>
                <a:latin typeface="Segoe UI"/>
              </a:rPr>
              <a:t>Named:  </a:t>
            </a:r>
            <a:r>
              <a:rPr sz="1700" b="0">
                <a:solidFill>
                  <a:srgbClr val="374151"/>
                </a:solidFill>
                <a:latin typeface="Segoe UI"/>
              </a:rPr>
              <a:t>"Hado" from Docker's lineage + "lint", meaning to pick fluff off code.</a:t>
            </a:r>
          </a:p>
          <a:p>
            <a:pPr algn="l">
              <a:lnSpc>
                <a:spcPct val="115000"/>
              </a:lnSpc>
              <a:spcAft>
                <a:spcPts val="1300"/>
              </a:spcAft>
            </a:pPr>
            <a:r>
              <a:rPr sz="1700" b="1">
                <a:solidFill>
                  <a:srgbClr val="2563EB"/>
                </a:solidFill>
                <a:latin typeface="Segoe UI"/>
              </a:rPr>
              <a:t>▪  </a:t>
            </a:r>
            <a:r>
              <a:rPr sz="1700" b="1">
                <a:solidFill>
                  <a:srgbClr val="111827"/>
                </a:solidFill>
                <a:latin typeface="Segoe UI"/>
              </a:rPr>
              <a:t>Catches:  </a:t>
            </a:r>
            <a:r>
              <a:rPr sz="1700" b="0">
                <a:solidFill>
                  <a:srgbClr val="374151"/>
                </a:solidFill>
                <a:latin typeface="Segoe UI"/>
              </a:rPr>
              <a:t>DL3002 (the container runs as root), DL3007 (an unpinned base image).</a:t>
            </a:r>
          </a:p>
          <a:p>
            <a:pPr algn="l">
              <a:lnSpc>
                <a:spcPct val="115000"/>
              </a:lnSpc>
              <a:spcAft>
                <a:spcPts val="1300"/>
              </a:spcAft>
            </a:pPr>
            <a:r>
              <a:rPr sz="1700" b="1">
                <a:solidFill>
                  <a:srgbClr val="2563EB"/>
                </a:solidFill>
                <a:latin typeface="Segoe UI"/>
              </a:rPr>
              <a:t>▪  </a:t>
            </a:r>
            <a:r>
              <a:rPr sz="1700" b="1">
                <a:solidFill>
                  <a:srgbClr val="111827"/>
                </a:solidFill>
                <a:latin typeface="Segoe UI"/>
              </a:rPr>
              <a:t>Why it earns its place:  </a:t>
            </a:r>
            <a:r>
              <a:rPr sz="1700" b="0">
                <a:solidFill>
                  <a:srgbClr val="374151"/>
                </a:solidFill>
                <a:latin typeface="Segoe UI"/>
              </a:rPr>
              <a:t>it runs in parallel with the build, so a bad recipe fails in five seconds instead of after a two-minute build.</a:t>
            </a:r>
          </a:p>
        </p:txBody>
      </p:sp>
      <p:sp>
        <p:nvSpPr>
          <p:cNvPr id="6" name="Rounded Rectangle 5"/>
          <p:cNvSpPr/>
          <p:nvPr/>
        </p:nvSpPr>
        <p:spPr>
          <a:xfrm>
            <a:off x="685800" y="47091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37176"/>
            <a:ext cx="10241280" cy="1005840"/>
          </a:xfrm>
          <a:prstGeom prst="rect">
            <a:avLst/>
          </a:prstGeom>
          <a:noFill/>
        </p:spPr>
        <p:txBody>
          <a:bodyPr wrap="square">
            <a:spAutoFit/>
          </a:bodyPr>
          <a:lstStyle/>
          <a:p>
            <a:pPr algn="l">
              <a:lnSpc>
                <a:spcPct val="115000"/>
              </a:lnSpc>
              <a:spcAft>
                <a:spcPts val="300"/>
              </a:spcAft>
            </a:pPr>
            <a:r>
              <a:rPr sz="1200" b="1">
                <a:solidFill>
                  <a:srgbClr val="2563EB"/>
                </a:solidFill>
                <a:latin typeface="Segoe UI"/>
              </a:rPr>
              <a:t>ANALOGY</a:t>
            </a:r>
          </a:p>
          <a:p>
            <a:pPr algn="l">
              <a:lnSpc>
                <a:spcPct val="115000"/>
              </a:lnSpc>
              <a:spcAft>
                <a:spcPts val="300"/>
              </a:spcAft>
            </a:pPr>
            <a:r>
              <a:rPr sz="1600" b="0">
                <a:solidFill>
                  <a:srgbClr val="374151"/>
                </a:solidFill>
                <a:latin typeface="Segoe UI"/>
              </a:rPr>
              <a:t>Checking a cake recipe before turning the oven on. If it says "bake at 5000 degrees", you want to know that now — not after the kitchen is on fire.</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Gate 2 — sast (Bandit)</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flaws in the code you wrote</a:t>
            </a:r>
          </a:p>
        </p:txBody>
      </p:sp>
      <p:sp>
        <p:nvSpPr>
          <p:cNvPr id="5" name="TextBox 4"/>
          <p:cNvSpPr txBox="1"/>
          <p:nvPr/>
        </p:nvSpPr>
        <p:spPr>
          <a:xfrm>
            <a:off x="685800" y="1691640"/>
            <a:ext cx="10789920" cy="4206240"/>
          </a:xfrm>
          <a:prstGeom prst="rect">
            <a:avLst/>
          </a:prstGeom>
          <a:noFill/>
        </p:spPr>
        <p:txBody>
          <a:bodyPr wrap="square">
            <a:spAutoFit/>
          </a:bodyPr>
          <a:lstStyle/>
          <a:p>
            <a:pPr algn="l">
              <a:lnSpc>
                <a:spcPct val="115000"/>
              </a:lnSpc>
              <a:spcAft>
                <a:spcPts val="1300"/>
              </a:spcAft>
            </a:pPr>
            <a:r>
              <a:rPr sz="1700" b="1">
                <a:solidFill>
                  <a:srgbClr val="2563EB"/>
                </a:solidFill>
                <a:latin typeface="Segoe UI"/>
              </a:rPr>
              <a:t>▪  </a:t>
            </a:r>
            <a:r>
              <a:rPr sz="1700" b="1">
                <a:solidFill>
                  <a:srgbClr val="111827"/>
                </a:solidFill>
                <a:latin typeface="Segoe UI"/>
              </a:rPr>
              <a:t>Stands for:  </a:t>
            </a:r>
            <a:r>
              <a:rPr sz="1700" b="0">
                <a:solidFill>
                  <a:srgbClr val="374151"/>
                </a:solidFill>
                <a:latin typeface="Segoe UI"/>
              </a:rPr>
              <a:t>Static Application Security Testing. "Static" means the code is not running — it is read like an essay.</a:t>
            </a:r>
          </a:p>
          <a:p>
            <a:pPr algn="l">
              <a:lnSpc>
                <a:spcPct val="115000"/>
              </a:lnSpc>
              <a:spcAft>
                <a:spcPts val="1300"/>
              </a:spcAft>
            </a:pPr>
            <a:r>
              <a:rPr sz="1700" b="1">
                <a:solidFill>
                  <a:srgbClr val="2563EB"/>
                </a:solidFill>
                <a:latin typeface="Segoe UI"/>
              </a:rPr>
              <a:t>▪  </a:t>
            </a:r>
            <a:r>
              <a:rPr sz="1700" b="1">
                <a:solidFill>
                  <a:srgbClr val="111827"/>
                </a:solidFill>
                <a:latin typeface="Segoe UI"/>
              </a:rPr>
              <a:t>Catches:  </a:t>
            </a:r>
            <a:r>
              <a:rPr sz="1700" b="0">
                <a:solidFill>
                  <a:srgbClr val="374151"/>
                </a:solidFill>
                <a:latin typeface="Segoe UI"/>
              </a:rPr>
              <a:t>dangerous patterns in your own source — shell=True, eval, unsafe deserialisation.</a:t>
            </a:r>
          </a:p>
          <a:p>
            <a:pPr algn="l">
              <a:lnSpc>
                <a:spcPct val="115000"/>
              </a:lnSpc>
              <a:spcAft>
                <a:spcPts val="1300"/>
              </a:spcAft>
            </a:pPr>
            <a:r>
              <a:rPr sz="1700" b="1">
                <a:solidFill>
                  <a:srgbClr val="2563EB"/>
                </a:solidFill>
                <a:latin typeface="Segoe UI"/>
              </a:rPr>
              <a:t>▪  </a:t>
            </a:r>
            <a:r>
              <a:rPr sz="1700" b="1">
                <a:solidFill>
                  <a:srgbClr val="111827"/>
                </a:solidFill>
                <a:latin typeface="Segoe UI"/>
              </a:rPr>
              <a:t>Found here:  </a:t>
            </a:r>
            <a:r>
              <a:rPr sz="1700" b="0">
                <a:solidFill>
                  <a:srgbClr val="374151"/>
                </a:solidFill>
                <a:latin typeface="Segoe UI"/>
              </a:rPr>
              <a:t>B602 in run 1. A URL parameter flowed straight into a system shell, so ?cmd=... was remote code execution.</a:t>
            </a:r>
          </a:p>
          <a:p>
            <a:pPr algn="l">
              <a:lnSpc>
                <a:spcPct val="115000"/>
              </a:lnSpc>
              <a:spcAft>
                <a:spcPts val="1300"/>
              </a:spcAft>
            </a:pPr>
            <a:r>
              <a:rPr sz="1700" b="1">
                <a:solidFill>
                  <a:srgbClr val="2563EB"/>
                </a:solidFill>
                <a:latin typeface="Segoe UI"/>
              </a:rPr>
              <a:t>▪  </a:t>
            </a:r>
            <a:r>
              <a:rPr sz="1700" b="1">
                <a:solidFill>
                  <a:srgbClr val="111827"/>
                </a:solidFill>
                <a:latin typeface="Segoe UI"/>
              </a:rPr>
              <a:t>The key limit:  </a:t>
            </a:r>
            <a:r>
              <a:rPr sz="1700" b="0">
                <a:solidFill>
                  <a:srgbClr val="374151"/>
                </a:solidFill>
                <a:latin typeface="Segoe UI"/>
              </a:rPr>
              <a:t>a library scanner cannot find these. The flaw is in a line you typed.</a:t>
            </a:r>
          </a:p>
        </p:txBody>
      </p:sp>
      <p:sp>
        <p:nvSpPr>
          <p:cNvPr id="6" name="Rounded Rectangle 5"/>
          <p:cNvSpPr/>
          <p:nvPr/>
        </p:nvSpPr>
        <p:spPr>
          <a:xfrm>
            <a:off x="685800" y="47091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37176"/>
            <a:ext cx="10241280" cy="1005840"/>
          </a:xfrm>
          <a:prstGeom prst="rect">
            <a:avLst/>
          </a:prstGeom>
          <a:noFill/>
        </p:spPr>
        <p:txBody>
          <a:bodyPr wrap="square">
            <a:spAutoFit/>
          </a:bodyPr>
          <a:lstStyle/>
          <a:p>
            <a:pPr algn="l">
              <a:lnSpc>
                <a:spcPct val="115000"/>
              </a:lnSpc>
              <a:spcAft>
                <a:spcPts val="300"/>
              </a:spcAft>
            </a:pPr>
            <a:r>
              <a:rPr sz="1200" b="1">
                <a:solidFill>
                  <a:srgbClr val="2563EB"/>
                </a:solidFill>
                <a:latin typeface="Segoe UI"/>
              </a:rPr>
              <a:t>ANALOGY</a:t>
            </a:r>
          </a:p>
          <a:p>
            <a:pPr algn="l">
              <a:lnSpc>
                <a:spcPct val="115000"/>
              </a:lnSpc>
              <a:spcAft>
                <a:spcPts val="300"/>
              </a:spcAft>
            </a:pPr>
            <a:r>
              <a:rPr sz="1600" b="0">
                <a:solidFill>
                  <a:srgbClr val="374151"/>
                </a:solidFill>
                <a:latin typeface="Segoe UI"/>
              </a:rPr>
              <a:t>An English teacher marking your essay with a red pen — spotting forbidden constructions without ever reading the essay aloud.</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Gate 3 — sca (pip-audit)</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flaws in the code you borrowed</a:t>
            </a:r>
          </a:p>
        </p:txBody>
      </p:sp>
      <p:sp>
        <p:nvSpPr>
          <p:cNvPr id="5" name="TextBox 4"/>
          <p:cNvSpPr txBox="1"/>
          <p:nvPr/>
        </p:nvSpPr>
        <p:spPr>
          <a:xfrm>
            <a:off x="685800" y="1691640"/>
            <a:ext cx="10789920" cy="4206240"/>
          </a:xfrm>
          <a:prstGeom prst="rect">
            <a:avLst/>
          </a:prstGeom>
          <a:noFill/>
        </p:spPr>
        <p:txBody>
          <a:bodyPr wrap="square">
            <a:spAutoFit/>
          </a:bodyPr>
          <a:lstStyle/>
          <a:p>
            <a:pPr algn="l">
              <a:lnSpc>
                <a:spcPct val="115000"/>
              </a:lnSpc>
              <a:spcAft>
                <a:spcPts val="1300"/>
              </a:spcAft>
            </a:pPr>
            <a:r>
              <a:rPr sz="1700" b="1">
                <a:solidFill>
                  <a:srgbClr val="2563EB"/>
                </a:solidFill>
                <a:latin typeface="Segoe UI"/>
              </a:rPr>
              <a:t>▪  </a:t>
            </a:r>
            <a:r>
              <a:rPr sz="1700" b="1">
                <a:solidFill>
                  <a:srgbClr val="111827"/>
                </a:solidFill>
                <a:latin typeface="Segoe UI"/>
              </a:rPr>
              <a:t>Stands for:  </a:t>
            </a:r>
            <a:r>
              <a:rPr sz="1700" b="0">
                <a:solidFill>
                  <a:srgbClr val="374151"/>
                </a:solidFill>
                <a:latin typeface="Segoe UI"/>
              </a:rPr>
              <a:t>Software Composition Analysis — what your software is composed of.</a:t>
            </a:r>
          </a:p>
          <a:p>
            <a:pPr algn="l">
              <a:lnSpc>
                <a:spcPct val="115000"/>
              </a:lnSpc>
              <a:spcAft>
                <a:spcPts val="1300"/>
              </a:spcAft>
            </a:pPr>
            <a:r>
              <a:rPr sz="1700" b="1">
                <a:solidFill>
                  <a:srgbClr val="2563EB"/>
                </a:solidFill>
                <a:latin typeface="Segoe UI"/>
              </a:rPr>
              <a:t>▪  </a:t>
            </a:r>
            <a:r>
              <a:rPr sz="1700" b="1">
                <a:solidFill>
                  <a:srgbClr val="111827"/>
                </a:solidFill>
                <a:latin typeface="Segoe UI"/>
              </a:rPr>
              <a:t>Catches:  </a:t>
            </a:r>
            <a:r>
              <a:rPr sz="1700" b="0">
                <a:solidFill>
                  <a:srgbClr val="374151"/>
                </a:solidFill>
                <a:latin typeface="Segoe UI"/>
              </a:rPr>
              <a:t>known CVEs in third-party packages, resolved from requirements.txt.</a:t>
            </a:r>
          </a:p>
          <a:p>
            <a:pPr algn="l">
              <a:lnSpc>
                <a:spcPct val="115000"/>
              </a:lnSpc>
              <a:spcAft>
                <a:spcPts val="1300"/>
              </a:spcAft>
            </a:pPr>
            <a:r>
              <a:rPr sz="1700" b="1">
                <a:solidFill>
                  <a:srgbClr val="2563EB"/>
                </a:solidFill>
                <a:latin typeface="Segoe UI"/>
              </a:rPr>
              <a:t>▪  </a:t>
            </a:r>
            <a:r>
              <a:rPr sz="1700" b="1">
                <a:solidFill>
                  <a:srgbClr val="111827"/>
                </a:solidFill>
                <a:latin typeface="Segoe UI"/>
              </a:rPr>
              <a:t>Found here:  </a:t>
            </a:r>
            <a:r>
              <a:rPr sz="1700" b="0">
                <a:solidFill>
                  <a:srgbClr val="374151"/>
                </a:solidFill>
                <a:latin typeface="Segoe UI"/>
              </a:rPr>
              <a:t>74 vulnerabilities across 8 packages, including a requests version that leaks your credentials on a redirect.</a:t>
            </a:r>
          </a:p>
          <a:p>
            <a:pPr algn="l">
              <a:lnSpc>
                <a:spcPct val="115000"/>
              </a:lnSpc>
              <a:spcAft>
                <a:spcPts val="1300"/>
              </a:spcAft>
            </a:pPr>
            <a:r>
              <a:rPr sz="1700" b="1">
                <a:solidFill>
                  <a:srgbClr val="2563EB"/>
                </a:solidFill>
                <a:latin typeface="Segoe UI"/>
              </a:rPr>
              <a:t>▪  </a:t>
            </a:r>
            <a:r>
              <a:rPr sz="1700" b="1">
                <a:solidFill>
                  <a:srgbClr val="111827"/>
                </a:solidFill>
                <a:latin typeface="Segoe UI"/>
              </a:rPr>
              <a:t>The point:  </a:t>
            </a:r>
            <a:r>
              <a:rPr sz="1700" b="0">
                <a:solidFill>
                  <a:srgbClr val="374151"/>
                </a:solidFill>
                <a:latin typeface="Segoe UI"/>
              </a:rPr>
              <a:t>your own code can be flawless and this still fires. You do not control the supply chain.</a:t>
            </a:r>
          </a:p>
        </p:txBody>
      </p:sp>
      <p:sp>
        <p:nvSpPr>
          <p:cNvPr id="6" name="Rounded Rectangle 5"/>
          <p:cNvSpPr/>
          <p:nvPr/>
        </p:nvSpPr>
        <p:spPr>
          <a:xfrm>
            <a:off x="685800" y="47091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37176"/>
            <a:ext cx="10241280" cy="1005840"/>
          </a:xfrm>
          <a:prstGeom prst="rect">
            <a:avLst/>
          </a:prstGeom>
          <a:noFill/>
        </p:spPr>
        <p:txBody>
          <a:bodyPr wrap="square">
            <a:spAutoFit/>
          </a:bodyPr>
          <a:lstStyle/>
          <a:p>
            <a:pPr algn="l">
              <a:lnSpc>
                <a:spcPct val="115000"/>
              </a:lnSpc>
              <a:spcAft>
                <a:spcPts val="300"/>
              </a:spcAft>
            </a:pPr>
            <a:r>
              <a:rPr sz="1200" b="1">
                <a:solidFill>
                  <a:srgbClr val="2563EB"/>
                </a:solidFill>
                <a:latin typeface="Segoe UI"/>
              </a:rPr>
              <a:t>ANALOGY</a:t>
            </a:r>
          </a:p>
          <a:p>
            <a:pPr algn="l">
              <a:lnSpc>
                <a:spcPct val="115000"/>
              </a:lnSpc>
              <a:spcAft>
                <a:spcPts val="300"/>
              </a:spcAft>
            </a:pPr>
            <a:r>
              <a:rPr sz="1600" b="0">
                <a:solidFill>
                  <a:srgbClr val="374151"/>
                </a:solidFill>
                <a:latin typeface="Segoe UI"/>
              </a:rPr>
              <a:t>You did not grow the lettuce — you bought it. This inspector checks the barcode against the national recall list before it goes in the salad.</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Gate 4 — gitleaks</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the secrets you committed</a:t>
            </a:r>
          </a:p>
        </p:txBody>
      </p:sp>
      <p:sp>
        <p:nvSpPr>
          <p:cNvPr id="5" name="TextBox 4"/>
          <p:cNvSpPr txBox="1"/>
          <p:nvPr/>
        </p:nvSpPr>
        <p:spPr>
          <a:xfrm>
            <a:off x="685800" y="1691640"/>
            <a:ext cx="10789920" cy="4206240"/>
          </a:xfrm>
          <a:prstGeom prst="rect">
            <a:avLst/>
          </a:prstGeom>
          <a:noFill/>
        </p:spPr>
        <p:txBody>
          <a:bodyPr wrap="square">
            <a:spAutoFit/>
          </a:bodyPr>
          <a:lstStyle/>
          <a:p>
            <a:pPr algn="l">
              <a:lnSpc>
                <a:spcPct val="115000"/>
              </a:lnSpc>
              <a:spcAft>
                <a:spcPts val="1300"/>
              </a:spcAft>
            </a:pPr>
            <a:r>
              <a:rPr sz="1700" b="1">
                <a:solidFill>
                  <a:srgbClr val="2563EB"/>
                </a:solidFill>
                <a:latin typeface="Segoe UI"/>
              </a:rPr>
              <a:t>▪  </a:t>
            </a:r>
            <a:r>
              <a:rPr sz="1700" b="1">
                <a:solidFill>
                  <a:srgbClr val="111827"/>
                </a:solidFill>
                <a:latin typeface="Segoe UI"/>
              </a:rPr>
              <a:t>Catches:  </a:t>
            </a:r>
            <a:r>
              <a:rPr sz="1700" b="0">
                <a:solidFill>
                  <a:srgbClr val="374151"/>
                </a:solidFill>
                <a:latin typeface="Segoe UI"/>
              </a:rPr>
              <a:t>API keys, tokens and passwords sitting in files or commit history.</a:t>
            </a:r>
          </a:p>
          <a:p>
            <a:pPr algn="l">
              <a:lnSpc>
                <a:spcPct val="115000"/>
              </a:lnSpc>
              <a:spcAft>
                <a:spcPts val="1300"/>
              </a:spcAft>
            </a:pPr>
            <a:r>
              <a:rPr sz="1700" b="1">
                <a:solidFill>
                  <a:srgbClr val="2563EB"/>
                </a:solidFill>
                <a:latin typeface="Segoe UI"/>
              </a:rPr>
              <a:t>▪  </a:t>
            </a:r>
            <a:r>
              <a:rPr sz="1700" b="1">
                <a:solidFill>
                  <a:srgbClr val="111827"/>
                </a:solidFill>
                <a:latin typeface="Segoe UI"/>
              </a:rPr>
              <a:t>Why it is essential:  </a:t>
            </a:r>
            <a:r>
              <a:rPr sz="1700" b="0">
                <a:solidFill>
                  <a:srgbClr val="374151"/>
                </a:solidFill>
                <a:latin typeface="Segoe UI"/>
              </a:rPr>
              <a:t>nothing else here reads values. SAST reads patterns, SCA reads version numbers, Trivy reads packages — an AWS key in a config file slides past all three.</a:t>
            </a:r>
          </a:p>
          <a:p>
            <a:pPr algn="l">
              <a:lnSpc>
                <a:spcPct val="115000"/>
              </a:lnSpc>
              <a:spcAft>
                <a:spcPts val="1300"/>
              </a:spcAft>
            </a:pPr>
            <a:r>
              <a:rPr sz="1700" b="1">
                <a:solidFill>
                  <a:srgbClr val="2563EB"/>
                </a:solidFill>
                <a:latin typeface="Segoe UI"/>
              </a:rPr>
              <a:t>▪  </a:t>
            </a:r>
            <a:r>
              <a:rPr sz="1700" b="1">
                <a:solidFill>
                  <a:srgbClr val="111827"/>
                </a:solidFill>
                <a:latin typeface="Segoe UI"/>
              </a:rPr>
              <a:t>Found here:  </a:t>
            </a:r>
            <a:r>
              <a:rPr sz="1700" b="0">
                <a:solidFill>
                  <a:srgbClr val="374151"/>
                </a:solidFill>
                <a:latin typeface="Segoe UI"/>
              </a:rPr>
              <a:t>a planted test secret failed the gate and blocked the release, and the notification fired.</a:t>
            </a:r>
          </a:p>
          <a:p>
            <a:pPr algn="l">
              <a:lnSpc>
                <a:spcPct val="115000"/>
              </a:lnSpc>
              <a:spcAft>
                <a:spcPts val="1300"/>
              </a:spcAft>
            </a:pPr>
            <a:r>
              <a:rPr sz="1700" b="1">
                <a:solidFill>
                  <a:srgbClr val="2563EB"/>
                </a:solidFill>
                <a:latin typeface="Segoe UI"/>
              </a:rPr>
              <a:t>▪  </a:t>
            </a:r>
            <a:r>
              <a:rPr sz="1700" b="1">
                <a:solidFill>
                  <a:srgbClr val="111827"/>
                </a:solidFill>
                <a:latin typeface="Segoe UI"/>
              </a:rPr>
              <a:t>Redaction matters:  </a:t>
            </a:r>
            <a:r>
              <a:rPr sz="1700" b="0">
                <a:solidFill>
                  <a:srgbClr val="374151"/>
                </a:solidFill>
                <a:latin typeface="Segoe UI"/>
              </a:rPr>
              <a:t>the scanner redacts the secret in its own output, so the CI log does not become the leak.</a:t>
            </a:r>
          </a:p>
        </p:txBody>
      </p:sp>
      <p:sp>
        <p:nvSpPr>
          <p:cNvPr id="6" name="Rounded Rectangle 5"/>
          <p:cNvSpPr/>
          <p:nvPr/>
        </p:nvSpPr>
        <p:spPr>
          <a:xfrm>
            <a:off x="685800" y="47091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37176"/>
            <a:ext cx="10241280" cy="1005840"/>
          </a:xfrm>
          <a:prstGeom prst="rect">
            <a:avLst/>
          </a:prstGeom>
          <a:noFill/>
        </p:spPr>
        <p:txBody>
          <a:bodyPr wrap="square">
            <a:spAutoFit/>
          </a:bodyPr>
          <a:lstStyle/>
          <a:p>
            <a:pPr algn="l">
              <a:lnSpc>
                <a:spcPct val="115000"/>
              </a:lnSpc>
              <a:spcAft>
                <a:spcPts val="300"/>
              </a:spcAft>
            </a:pPr>
            <a:r>
              <a:rPr sz="1200" b="1">
                <a:solidFill>
                  <a:srgbClr val="DC2626"/>
                </a:solidFill>
                <a:latin typeface="Segoe UI"/>
              </a:rPr>
              <a:t>ANALOGY</a:t>
            </a:r>
          </a:p>
          <a:p>
            <a:pPr algn="l">
              <a:lnSpc>
                <a:spcPct val="115000"/>
              </a:lnSpc>
              <a:spcAft>
                <a:spcPts val="300"/>
              </a:spcAft>
            </a:pPr>
            <a:r>
              <a:rPr sz="1600" b="0">
                <a:solidFill>
                  <a:srgbClr val="374151"/>
                </a:solidFill>
                <a:latin typeface="Segoe UI"/>
              </a:rPr>
              <a:t>Checking your backpack before you leave the house, to be sure you did not tape your house keys and door PIN to the front of your diary.</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Gate 5 — image-scan (Trivy)</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the finished artifact</a:t>
            </a:r>
          </a:p>
        </p:txBody>
      </p:sp>
      <p:sp>
        <p:nvSpPr>
          <p:cNvPr id="5" name="TextBox 4"/>
          <p:cNvSpPr txBox="1"/>
          <p:nvPr/>
        </p:nvSpPr>
        <p:spPr>
          <a:xfrm>
            <a:off x="685800" y="1691640"/>
            <a:ext cx="10789920" cy="4206240"/>
          </a:xfrm>
          <a:prstGeom prst="rect">
            <a:avLst/>
          </a:prstGeom>
          <a:noFill/>
        </p:spPr>
        <p:txBody>
          <a:bodyPr wrap="square">
            <a:spAutoFit/>
          </a:bodyPr>
          <a:lstStyle/>
          <a:p>
            <a:pPr algn="l">
              <a:lnSpc>
                <a:spcPct val="115000"/>
              </a:lnSpc>
              <a:spcAft>
                <a:spcPts val="1300"/>
              </a:spcAft>
            </a:pPr>
            <a:r>
              <a:rPr sz="1700" b="1">
                <a:solidFill>
                  <a:srgbClr val="2563EB"/>
                </a:solidFill>
                <a:latin typeface="Segoe UI"/>
              </a:rPr>
              <a:t>▪  </a:t>
            </a:r>
            <a:r>
              <a:rPr sz="1700" b="1">
                <a:solidFill>
                  <a:srgbClr val="111827"/>
                </a:solidFill>
                <a:latin typeface="Segoe UI"/>
              </a:rPr>
              <a:t>Inspects:  </a:t>
            </a:r>
            <a:r>
              <a:rPr sz="1700" b="0">
                <a:solidFill>
                  <a:srgbClr val="374151"/>
                </a:solidFill>
                <a:latin typeface="Segoe UI"/>
              </a:rPr>
              <a:t>the assembled container — OS packages, language packages, and everything the base image dragged in.</a:t>
            </a:r>
          </a:p>
          <a:p>
            <a:pPr algn="l">
              <a:lnSpc>
                <a:spcPct val="115000"/>
              </a:lnSpc>
              <a:spcAft>
                <a:spcPts val="1300"/>
              </a:spcAft>
            </a:pPr>
            <a:r>
              <a:rPr sz="1700" b="1">
                <a:solidFill>
                  <a:srgbClr val="2563EB"/>
                </a:solidFill>
                <a:latin typeface="Segoe UI"/>
              </a:rPr>
              <a:t>▪  </a:t>
            </a:r>
            <a:r>
              <a:rPr sz="1700" b="1">
                <a:solidFill>
                  <a:srgbClr val="111827"/>
                </a:solidFill>
                <a:latin typeface="Segoe UI"/>
              </a:rPr>
              <a:t>Why it is different:  </a:t>
            </a:r>
            <a:r>
              <a:rPr sz="1700" b="0">
                <a:solidFill>
                  <a:srgbClr val="374151"/>
                </a:solidFill>
                <a:latin typeface="Segoe UI"/>
              </a:rPr>
              <a:t>it is the only gate that sees the object you actually ship, rather than the inputs to it.</a:t>
            </a:r>
          </a:p>
          <a:p>
            <a:pPr algn="l">
              <a:lnSpc>
                <a:spcPct val="115000"/>
              </a:lnSpc>
              <a:spcAft>
                <a:spcPts val="1300"/>
              </a:spcAft>
            </a:pPr>
            <a:r>
              <a:rPr sz="1700" b="1">
                <a:solidFill>
                  <a:srgbClr val="2563EB"/>
                </a:solidFill>
                <a:latin typeface="Segoe UI"/>
              </a:rPr>
              <a:t>▪  </a:t>
            </a:r>
            <a:r>
              <a:rPr sz="1700" b="1">
                <a:solidFill>
                  <a:srgbClr val="111827"/>
                </a:solidFill>
                <a:latin typeface="Segoe UI"/>
              </a:rPr>
              <a:t>Configured carefully:  </a:t>
            </a:r>
            <a:r>
              <a:rPr sz="1700" b="0">
                <a:solidFill>
                  <a:srgbClr val="374151"/>
                </a:solidFill>
                <a:latin typeface="Segoe UI"/>
              </a:rPr>
              <a:t>only fixable findings fail it (ignore-unfixed), because 44 unfixable operating-system CVEs would make the gate permanently red.</a:t>
            </a:r>
          </a:p>
          <a:p>
            <a:pPr algn="l">
              <a:lnSpc>
                <a:spcPct val="115000"/>
              </a:lnSpc>
              <a:spcAft>
                <a:spcPts val="1300"/>
              </a:spcAft>
            </a:pPr>
            <a:r>
              <a:rPr sz="1700" b="1">
                <a:solidFill>
                  <a:srgbClr val="2563EB"/>
                </a:solidFill>
                <a:latin typeface="Segoe UI"/>
              </a:rPr>
              <a:t>▪  </a:t>
            </a:r>
            <a:r>
              <a:rPr sz="1700" b="1">
                <a:solidFill>
                  <a:srgbClr val="111827"/>
                </a:solidFill>
                <a:latin typeface="Segoe UI"/>
              </a:rPr>
              <a:t>Found here:  </a:t>
            </a:r>
            <a:r>
              <a:rPr sz="1700" b="0">
                <a:solidFill>
                  <a:srgbClr val="374151"/>
                </a:solidFill>
                <a:latin typeface="Segoe UI"/>
              </a:rPr>
              <a:t>in run 2 it failed while sca passed — the CVEs were in the base image, invisible to the dependency scanner.</a:t>
            </a:r>
          </a:p>
        </p:txBody>
      </p:sp>
      <p:sp>
        <p:nvSpPr>
          <p:cNvPr id="6" name="Rounded Rectangle 5"/>
          <p:cNvSpPr/>
          <p:nvPr/>
        </p:nvSpPr>
        <p:spPr>
          <a:xfrm>
            <a:off x="685800" y="47091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37176"/>
            <a:ext cx="10241280" cy="1005840"/>
          </a:xfrm>
          <a:prstGeom prst="rect">
            <a:avLst/>
          </a:prstGeom>
          <a:noFill/>
        </p:spPr>
        <p:txBody>
          <a:bodyPr wrap="square">
            <a:spAutoFit/>
          </a:bodyPr>
          <a:lstStyle/>
          <a:p>
            <a:pPr algn="l">
              <a:lnSpc>
                <a:spcPct val="115000"/>
              </a:lnSpc>
              <a:spcAft>
                <a:spcPts val="300"/>
              </a:spcAft>
            </a:pPr>
            <a:r>
              <a:rPr sz="1200" b="1">
                <a:solidFill>
                  <a:srgbClr val="B45309"/>
                </a:solidFill>
                <a:latin typeface="Segoe UI"/>
              </a:rPr>
              <a:t>ANALOGY</a:t>
            </a:r>
          </a:p>
          <a:p>
            <a:pPr algn="l">
              <a:lnSpc>
                <a:spcPct val="115000"/>
              </a:lnSpc>
              <a:spcAft>
                <a:spcPts val="300"/>
              </a:spcAft>
            </a:pPr>
            <a:r>
              <a:rPr sz="1600" b="0">
                <a:solidFill>
                  <a:srgbClr val="374151"/>
                </a:solidFill>
                <a:latin typeface="Segoe UI"/>
              </a:rPr>
              <a:t>Airport baggage X-ray. The officer does not read your packing list — the suitcase goes through the machine and they see what is physically inside.</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The gate itself</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one line of YAML that GitHub enforces for you</a:t>
            </a:r>
          </a:p>
        </p:txBody>
      </p:sp>
      <p:pic>
        <p:nvPicPr>
          <p:cNvPr id="5" name="Picture 4" descr="barrier.png"/>
          <p:cNvPicPr>
            <a:picLocks noChangeAspect="1"/>
          </p:cNvPicPr>
          <p:nvPr/>
        </p:nvPicPr>
        <p:blipFill>
          <a:blip r:embed="rId2"/>
          <a:stretch>
            <a:fillRect/>
          </a:stretch>
        </p:blipFill>
        <p:spPr>
          <a:xfrm>
            <a:off x="609447" y="1783080"/>
            <a:ext cx="10972800" cy="3200400"/>
          </a:xfrm>
          <a:prstGeom prst="rect">
            <a:avLst/>
          </a:prstGeom>
        </p:spPr>
      </p:pic>
      <p:sp>
        <p:nvSpPr>
          <p:cNvPr id="6" name="TextBox 5"/>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Deploy is not a gate — it is the treasure</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plus the alarm that fires when a gate shuts</a:t>
            </a:r>
          </a:p>
        </p:txBody>
      </p:sp>
      <p:sp>
        <p:nvSpPr>
          <p:cNvPr id="5" name="TextBox 4"/>
          <p:cNvSpPr txBox="1"/>
          <p:nvPr/>
        </p:nvSpPr>
        <p:spPr>
          <a:xfrm>
            <a:off x="685800" y="1691640"/>
            <a:ext cx="10789920" cy="4206240"/>
          </a:xfrm>
          <a:prstGeom prst="rect">
            <a:avLst/>
          </a:prstGeom>
          <a:noFill/>
        </p:spPr>
        <p:txBody>
          <a:bodyPr wrap="square">
            <a:spAutoFit/>
          </a:bodyPr>
          <a:lstStyle/>
          <a:p>
            <a:pPr algn="l">
              <a:lnSpc>
                <a:spcPct val="115000"/>
              </a:lnSpc>
              <a:spcAft>
                <a:spcPts val="1300"/>
              </a:spcAft>
            </a:pPr>
            <a:r>
              <a:rPr sz="1700" b="1">
                <a:solidFill>
                  <a:srgbClr val="2563EB"/>
                </a:solidFill>
                <a:latin typeface="Segoe UI"/>
              </a:rPr>
              <a:t>▪  </a:t>
            </a:r>
            <a:r>
              <a:rPr sz="1700" b="1">
                <a:solidFill>
                  <a:srgbClr val="111827"/>
                </a:solidFill>
                <a:latin typeface="Segoe UI"/>
              </a:rPr>
              <a:t>deploy:  </a:t>
            </a:r>
            <a:r>
              <a:rPr sz="1700" b="0">
                <a:solidFill>
                  <a:srgbClr val="374151"/>
                </a:solidFill>
                <a:latin typeface="Segoe UI"/>
              </a:rPr>
              <a:t>publishes the approved image to GHCR. It declares all six gates in needs:, so GitHub will not start it unless every one succeeded.</a:t>
            </a:r>
          </a:p>
          <a:p>
            <a:pPr algn="l">
              <a:lnSpc>
                <a:spcPct val="115000"/>
              </a:lnSpc>
              <a:spcAft>
                <a:spcPts val="1300"/>
              </a:spcAft>
            </a:pPr>
            <a:r>
              <a:rPr sz="1700" b="1">
                <a:solidFill>
                  <a:srgbClr val="2563EB"/>
                </a:solidFill>
                <a:latin typeface="Segoe UI"/>
              </a:rPr>
              <a:t>▪  </a:t>
            </a:r>
            <a:r>
              <a:rPr sz="1700" b="1">
                <a:solidFill>
                  <a:srgbClr val="111827"/>
                </a:solidFill>
                <a:latin typeface="Segoe UI"/>
              </a:rPr>
              <a:t>notify:  </a:t>
            </a:r>
            <a:r>
              <a:rPr sz="1700" b="0">
                <a:solidFill>
                  <a:srgbClr val="374151"/>
                </a:solidFill>
                <a:latin typeface="Segoe UI"/>
              </a:rPr>
              <a:t>the inverse — if: failure(). Silent when everything is green, fires the moment something is blocked.</a:t>
            </a:r>
          </a:p>
          <a:p>
            <a:pPr algn="l">
              <a:lnSpc>
                <a:spcPct val="115000"/>
              </a:lnSpc>
              <a:spcAft>
                <a:spcPts val="1300"/>
              </a:spcAft>
            </a:pPr>
            <a:r>
              <a:rPr sz="1700" b="1">
                <a:solidFill>
                  <a:srgbClr val="2563EB"/>
                </a:solidFill>
                <a:latin typeface="Segoe UI"/>
              </a:rPr>
              <a:t>▪  </a:t>
            </a:r>
            <a:r>
              <a:rPr sz="1700" b="1">
                <a:solidFill>
                  <a:srgbClr val="111827"/>
                </a:solidFill>
                <a:latin typeface="Segoe UI"/>
              </a:rPr>
              <a:t>Why notify matters:  </a:t>
            </a:r>
            <a:r>
              <a:rPr sz="1700" b="0">
                <a:solidFill>
                  <a:srgbClr val="374151"/>
                </a:solidFill>
                <a:latin typeface="Segoe UI"/>
              </a:rPr>
              <a:t>without it a red run just sits there until somebody happens to look. It writes a per-gate table and can post to Slack.</a:t>
            </a:r>
          </a:p>
          <a:p>
            <a:pPr algn="l">
              <a:lnSpc>
                <a:spcPct val="115000"/>
              </a:lnSpc>
              <a:spcAft>
                <a:spcPts val="1300"/>
              </a:spcAft>
            </a:pPr>
            <a:r>
              <a:rPr sz="1700" b="1">
                <a:solidFill>
                  <a:srgbClr val="2563EB"/>
                </a:solidFill>
                <a:latin typeface="Segoe UI"/>
              </a:rPr>
              <a:t>▪  </a:t>
            </a:r>
            <a:r>
              <a:rPr sz="1700" b="1">
                <a:solidFill>
                  <a:srgbClr val="111827"/>
                </a:solidFill>
                <a:latin typeface="Segoe UI"/>
              </a:rPr>
              <a:t>The separation:  </a:t>
            </a:r>
            <a:r>
              <a:rPr sz="1700" b="0">
                <a:solidFill>
                  <a:srgbClr val="374151"/>
                </a:solidFill>
                <a:latin typeface="Segoe UI"/>
              </a:rPr>
              <a:t>the reusable workflow produces a scanned image; only the repository knows where its own image belongs.</a:t>
            </a:r>
          </a:p>
        </p:txBody>
      </p:sp>
      <p:sp>
        <p:nvSpPr>
          <p:cNvPr id="6" name="Rounded Rectangle 5"/>
          <p:cNvSpPr/>
          <p:nvPr/>
        </p:nvSpPr>
        <p:spPr>
          <a:xfrm>
            <a:off x="685800" y="47091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37176"/>
            <a:ext cx="10241280" cy="1005840"/>
          </a:xfrm>
          <a:prstGeom prst="rect">
            <a:avLst/>
          </a:prstGeom>
          <a:noFill/>
        </p:spPr>
        <p:txBody>
          <a:bodyPr wrap="square">
            <a:spAutoFit/>
          </a:bodyPr>
          <a:lstStyle/>
          <a:p>
            <a:pPr algn="l">
              <a:lnSpc>
                <a:spcPct val="115000"/>
              </a:lnSpc>
              <a:spcAft>
                <a:spcPts val="300"/>
              </a:spcAft>
            </a:pPr>
            <a:r>
              <a:rPr sz="1200" b="1">
                <a:solidFill>
                  <a:srgbClr val="15803D"/>
                </a:solidFill>
                <a:latin typeface="Segoe UI"/>
              </a:rPr>
              <a:t>THE SECURITY CONTROL</a:t>
            </a:r>
          </a:p>
          <a:p>
            <a:pPr algn="l">
              <a:lnSpc>
                <a:spcPct val="115000"/>
              </a:lnSpc>
              <a:spcAft>
                <a:spcPts val="300"/>
              </a:spcAft>
            </a:pPr>
            <a:r>
              <a:rPr sz="1600" b="0">
                <a:solidFill>
                  <a:srgbClr val="374151"/>
                </a:solidFill>
                <a:latin typeface="Segoe UI"/>
              </a:rPr>
              <a:t>needs:  is not a comment, a convention, or a review step. It is the dependency graph, and GitHub enforces it.</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One artifact, promoted</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the bytes that were scanned are the bytes that run</a:t>
            </a:r>
          </a:p>
        </p:txBody>
      </p:sp>
      <p:pic>
        <p:nvPicPr>
          <p:cNvPr id="5" name="Picture 4" descr="provenance.png"/>
          <p:cNvPicPr>
            <a:picLocks noChangeAspect="1"/>
          </p:cNvPicPr>
          <p:nvPr/>
        </p:nvPicPr>
        <p:blipFill>
          <a:blip r:embed="rId2"/>
          <a:stretch>
            <a:fillRect/>
          </a:stretch>
        </p:blipFill>
        <p:spPr>
          <a:xfrm>
            <a:off x="609447" y="1783080"/>
            <a:ext cx="10972800" cy="2700996"/>
          </a:xfrm>
          <a:prstGeom prst="rect">
            <a:avLst/>
          </a:prstGeom>
        </p:spPr>
      </p:pic>
      <p:sp>
        <p:nvSpPr>
          <p:cNvPr id="6" name="TextBox 5"/>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The evidence</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the gate is only real if you can show it shutting</a:t>
            </a:r>
          </a:p>
        </p:txBody>
      </p:sp>
      <p:pic>
        <p:nvPicPr>
          <p:cNvPr id="5" name="Picture 4" descr="runs.png"/>
          <p:cNvPicPr>
            <a:picLocks noChangeAspect="1"/>
          </p:cNvPicPr>
          <p:nvPr/>
        </p:nvPicPr>
        <p:blipFill>
          <a:blip r:embed="rId2"/>
          <a:stretch>
            <a:fillRect/>
          </a:stretch>
        </p:blipFill>
        <p:spPr>
          <a:xfrm>
            <a:off x="609447" y="1783080"/>
            <a:ext cx="10972800" cy="4279392"/>
          </a:xfrm>
          <a:prstGeom prst="rect">
            <a:avLst/>
          </a:prstGeom>
        </p:spPr>
      </p:pic>
      <p:sp>
        <p:nvSpPr>
          <p:cNvPr id="6" name="TextBox 5"/>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Run 2 is the slide that matters</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sca green, image-scan red, same commit</a:t>
            </a:r>
          </a:p>
        </p:txBody>
      </p:sp>
      <p:sp>
        <p:nvSpPr>
          <p:cNvPr id="5" name="TextBox 4"/>
          <p:cNvSpPr txBox="1"/>
          <p:nvPr/>
        </p:nvSpPr>
        <p:spPr>
          <a:xfrm>
            <a:off x="685800" y="1691640"/>
            <a:ext cx="10789920" cy="4206240"/>
          </a:xfrm>
          <a:prstGeom prst="rect">
            <a:avLst/>
          </a:prstGeom>
          <a:noFill/>
        </p:spPr>
        <p:txBody>
          <a:bodyPr wrap="square">
            <a:spAutoFit/>
          </a:bodyPr>
          <a:lstStyle/>
          <a:p>
            <a:pPr algn="l">
              <a:lnSpc>
                <a:spcPct val="115000"/>
              </a:lnSpc>
              <a:spcAft>
                <a:spcPts val="1300"/>
              </a:spcAft>
            </a:pPr>
            <a:r>
              <a:rPr sz="1700" b="1">
                <a:solidFill>
                  <a:srgbClr val="2563EB"/>
                </a:solidFill>
                <a:latin typeface="Segoe UI"/>
              </a:rPr>
              <a:t>▪  </a:t>
            </a:r>
            <a:r>
              <a:rPr sz="1700" b="1">
                <a:solidFill>
                  <a:srgbClr val="111827"/>
                </a:solidFill>
                <a:latin typeface="Segoe UI"/>
              </a:rPr>
              <a:t>What happened:  </a:t>
            </a:r>
            <a:r>
              <a:rPr sz="1700" b="0">
                <a:solidFill>
                  <a:srgbClr val="374151"/>
                </a:solidFill>
                <a:latin typeface="Segoe UI"/>
              </a:rPr>
              <a:t>we patched requirements.txt. The dependency gate went green and we expected everything to follow.</a:t>
            </a:r>
          </a:p>
          <a:p>
            <a:pPr algn="l">
              <a:lnSpc>
                <a:spcPct val="115000"/>
              </a:lnSpc>
              <a:spcAft>
                <a:spcPts val="1300"/>
              </a:spcAft>
            </a:pPr>
            <a:r>
              <a:rPr sz="1700" b="1">
                <a:solidFill>
                  <a:srgbClr val="2563EB"/>
                </a:solidFill>
                <a:latin typeface="Segoe UI"/>
              </a:rPr>
              <a:t>▪  </a:t>
            </a:r>
            <a:r>
              <a:rPr sz="1700" b="1">
                <a:solidFill>
                  <a:srgbClr val="111827"/>
                </a:solidFill>
                <a:latin typeface="Segoe UI"/>
              </a:rPr>
              <a:t>What actually happened:  </a:t>
            </a:r>
            <a:r>
              <a:rPr sz="1700" b="0">
                <a:solidFill>
                  <a:srgbClr val="374151"/>
                </a:solidFill>
                <a:latin typeface="Segoe UI"/>
              </a:rPr>
              <a:t>Trivy still failed — it found CVEs in wheel and jaraco.context, which ship inside the base image.</a:t>
            </a:r>
          </a:p>
          <a:p>
            <a:pPr algn="l">
              <a:lnSpc>
                <a:spcPct val="115000"/>
              </a:lnSpc>
              <a:spcAft>
                <a:spcPts val="1300"/>
              </a:spcAft>
            </a:pPr>
            <a:r>
              <a:rPr sz="1700" b="1">
                <a:solidFill>
                  <a:srgbClr val="2563EB"/>
                </a:solidFill>
                <a:latin typeface="Segoe UI"/>
              </a:rPr>
              <a:t>▪  </a:t>
            </a:r>
            <a:r>
              <a:rPr sz="1700" b="1">
                <a:solidFill>
                  <a:srgbClr val="111827"/>
                </a:solidFill>
                <a:latin typeface="Segoe UI"/>
              </a:rPr>
              <a:t>Why it could not be caught elsewhere:  </a:t>
            </a:r>
            <a:r>
              <a:rPr sz="1700" b="0">
                <a:solidFill>
                  <a:srgbClr val="374151"/>
                </a:solidFill>
                <a:latin typeface="Segoe UI"/>
              </a:rPr>
              <a:t>those packages appear nowhere in requirements.txt. The dependency scanner is structurally blind to them.</a:t>
            </a:r>
          </a:p>
          <a:p>
            <a:pPr algn="l">
              <a:lnSpc>
                <a:spcPct val="115000"/>
              </a:lnSpc>
              <a:spcAft>
                <a:spcPts val="1300"/>
              </a:spcAft>
            </a:pPr>
            <a:r>
              <a:rPr sz="1700" b="1">
                <a:solidFill>
                  <a:srgbClr val="2563EB"/>
                </a:solidFill>
                <a:latin typeface="Segoe UI"/>
              </a:rPr>
              <a:t>▪  </a:t>
            </a:r>
            <a:r>
              <a:rPr sz="1700" b="1">
                <a:solidFill>
                  <a:srgbClr val="111827"/>
                </a:solidFill>
                <a:latin typeface="Segoe UI"/>
              </a:rPr>
              <a:t>What it proves:  </a:t>
            </a:r>
            <a:r>
              <a:rPr sz="1700" b="0">
                <a:solidFill>
                  <a:srgbClr val="374151"/>
                </a:solidFill>
                <a:latin typeface="Segoe UI"/>
              </a:rPr>
              <a:t>the gates catch disjoint failure classes. One scanner would have shipped this.</a:t>
            </a:r>
          </a:p>
        </p:txBody>
      </p:sp>
      <p:sp>
        <p:nvSpPr>
          <p:cNvPr id="6" name="Rounded Rectangle 5"/>
          <p:cNvSpPr/>
          <p:nvPr/>
        </p:nvSpPr>
        <p:spPr>
          <a:xfrm>
            <a:off x="685800" y="47091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37176"/>
            <a:ext cx="10241280" cy="1005840"/>
          </a:xfrm>
          <a:prstGeom prst="rect">
            <a:avLst/>
          </a:prstGeom>
          <a:noFill/>
        </p:spPr>
        <p:txBody>
          <a:bodyPr wrap="square">
            <a:spAutoFit/>
          </a:bodyPr>
          <a:lstStyle/>
          <a:p>
            <a:pPr algn="l">
              <a:lnSpc>
                <a:spcPct val="115000"/>
              </a:lnSpc>
              <a:spcAft>
                <a:spcPts val="300"/>
              </a:spcAft>
            </a:pPr>
            <a:r>
              <a:rPr sz="1200" b="1">
                <a:solidFill>
                  <a:srgbClr val="B45309"/>
                </a:solidFill>
                <a:latin typeface="Segoe UI"/>
              </a:rPr>
              <a:t>THE SENTENCE TO REMEMBER</a:t>
            </a:r>
          </a:p>
          <a:p>
            <a:pPr algn="l">
              <a:lnSpc>
                <a:spcPct val="115000"/>
              </a:lnSpc>
              <a:spcAft>
                <a:spcPts val="300"/>
              </a:spcAft>
            </a:pPr>
            <a:r>
              <a:rPr sz="1600" b="0">
                <a:solidFill>
                  <a:srgbClr val="374151"/>
                </a:solidFill>
                <a:latin typeface="Segoe UI"/>
              </a:rPr>
              <a:t>This is the difference between wiring up three scanners and understanding why three are needed.</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What runs where</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GitHub's runners do the work; the host only pulls and runs</a:t>
            </a:r>
          </a:p>
        </p:txBody>
      </p:sp>
      <p:pic>
        <p:nvPicPr>
          <p:cNvPr id="5" name="Picture 4" descr="architecture.png"/>
          <p:cNvPicPr>
            <a:picLocks noChangeAspect="1"/>
          </p:cNvPicPr>
          <p:nvPr/>
        </p:nvPicPr>
        <p:blipFill>
          <a:blip r:embed="rId2"/>
          <a:stretch>
            <a:fillRect/>
          </a:stretch>
        </p:blipFill>
        <p:spPr>
          <a:xfrm>
            <a:off x="609447" y="1783080"/>
            <a:ext cx="10972800" cy="3798276"/>
          </a:xfrm>
          <a:prstGeom prst="rect">
            <a:avLst/>
          </a:prstGeom>
        </p:spPr>
      </p:pic>
      <p:sp>
        <p:nvSpPr>
          <p:cNvPr id="6" name="TextBox 5"/>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A live dashboard, for humans</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because a green pipeline nobody looks at is not reassurance</a:t>
            </a:r>
          </a:p>
        </p:txBody>
      </p:sp>
      <p:sp>
        <p:nvSpPr>
          <p:cNvPr id="5" name="TextBox 4"/>
          <p:cNvSpPr txBox="1"/>
          <p:nvPr/>
        </p:nvSpPr>
        <p:spPr>
          <a:xfrm>
            <a:off x="685800" y="1691640"/>
            <a:ext cx="10789920" cy="4206240"/>
          </a:xfrm>
          <a:prstGeom prst="rect">
            <a:avLst/>
          </a:prstGeom>
          <a:noFill/>
        </p:spPr>
        <p:txBody>
          <a:bodyPr wrap="square">
            <a:spAutoFit/>
          </a:bodyPr>
          <a:lstStyle/>
          <a:p>
            <a:pPr algn="l">
              <a:lnSpc>
                <a:spcPct val="115000"/>
              </a:lnSpc>
              <a:spcAft>
                <a:spcPts val="1300"/>
              </a:spcAft>
            </a:pPr>
            <a:r>
              <a:rPr sz="1700" b="1">
                <a:solidFill>
                  <a:srgbClr val="2563EB"/>
                </a:solidFill>
                <a:latin typeface="Segoe UI"/>
              </a:rPr>
              <a:t>▪  </a:t>
            </a:r>
            <a:r>
              <a:rPr sz="1700" b="1">
                <a:solidFill>
                  <a:srgbClr val="111827"/>
                </a:solidFill>
                <a:latin typeface="Segoe UI"/>
              </a:rPr>
              <a:t>Where:  </a:t>
            </a:r>
            <a:r>
              <a:rPr sz="1700" b="0">
                <a:solidFill>
                  <a:srgbClr val="374151"/>
                </a:solidFill>
                <a:latin typeface="Segoe UI"/>
              </a:rPr>
              <a:t>served by GitHub Pages from docs/index.html — a single self-contained file with no build step and no server.</a:t>
            </a:r>
          </a:p>
          <a:p>
            <a:pPr algn="l">
              <a:lnSpc>
                <a:spcPct val="115000"/>
              </a:lnSpc>
              <a:spcAft>
                <a:spcPts val="1300"/>
              </a:spcAft>
            </a:pPr>
            <a:r>
              <a:rPr sz="1700" b="1">
                <a:solidFill>
                  <a:srgbClr val="2563EB"/>
                </a:solidFill>
                <a:latin typeface="Segoe UI"/>
              </a:rPr>
              <a:t>▪  </a:t>
            </a:r>
            <a:r>
              <a:rPr sz="1700" b="1">
                <a:solidFill>
                  <a:srgbClr val="111827"/>
                </a:solidFill>
                <a:latin typeface="Segoe UI"/>
              </a:rPr>
              <a:t>What it shows:  </a:t>
            </a:r>
            <a:r>
              <a:rPr sz="1700" b="0">
                <a:solidFill>
                  <a:srgbClr val="374151"/>
                </a:solidFill>
                <a:latin typeface="Segoe UI"/>
              </a:rPr>
              <a:t>current state, every gate's history, releases blocked, and a plain-language verdict of whether the release was blocked and why.</a:t>
            </a:r>
          </a:p>
          <a:p>
            <a:pPr algn="l">
              <a:lnSpc>
                <a:spcPct val="115000"/>
              </a:lnSpc>
              <a:spcAft>
                <a:spcPts val="1300"/>
              </a:spcAft>
            </a:pPr>
            <a:r>
              <a:rPr sz="1700" b="1">
                <a:solidFill>
                  <a:srgbClr val="2563EB"/>
                </a:solidFill>
                <a:latin typeface="Segoe UI"/>
              </a:rPr>
              <a:t>▪  </a:t>
            </a:r>
            <a:r>
              <a:rPr sz="1700" b="1">
                <a:solidFill>
                  <a:srgbClr val="111827"/>
                </a:solidFill>
                <a:latin typeface="Segoe UI"/>
              </a:rPr>
              <a:t>Interactive:  </a:t>
            </a:r>
            <a:r>
              <a:rPr sz="1700" b="0">
                <a:solidFill>
                  <a:srgbClr val="374151"/>
                </a:solidFill>
                <a:latin typeface="Segoe UI"/>
              </a:rPr>
              <a:t>click any stage for what it checks and how to run it locally; click any run to expand every job with durations and a link to its log.</a:t>
            </a:r>
          </a:p>
          <a:p>
            <a:pPr algn="l">
              <a:lnSpc>
                <a:spcPct val="115000"/>
              </a:lnSpc>
              <a:spcAft>
                <a:spcPts val="1300"/>
              </a:spcAft>
            </a:pPr>
            <a:r>
              <a:rPr sz="1700" b="1">
                <a:solidFill>
                  <a:srgbClr val="2563EB"/>
                </a:solidFill>
                <a:latin typeface="Segoe UI"/>
              </a:rPr>
              <a:t>▪  </a:t>
            </a:r>
            <a:r>
              <a:rPr sz="1700" b="1">
                <a:solidFill>
                  <a:srgbClr val="111827"/>
                </a:solidFill>
                <a:latin typeface="Segoe UI"/>
              </a:rPr>
              <a:t>Why it exists:  </a:t>
            </a:r>
            <a:r>
              <a:rPr sz="1700" b="0">
                <a:solidFill>
                  <a:srgbClr val="374151"/>
                </a:solidFill>
                <a:latin typeface="Segoe UI"/>
              </a:rPr>
              <a:t>a manager should not need to read YAML to answer "are we safe to ship today?"</a:t>
            </a:r>
          </a:p>
        </p:txBody>
      </p:sp>
      <p:sp>
        <p:nvSpPr>
          <p:cNvPr id="6" name="Rounded Rectangle 5"/>
          <p:cNvSpPr/>
          <p:nvPr/>
        </p:nvSpPr>
        <p:spPr>
          <a:xfrm>
            <a:off x="685800" y="47091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37176"/>
            <a:ext cx="10241280" cy="1005840"/>
          </a:xfrm>
          <a:prstGeom prst="rect">
            <a:avLst/>
          </a:prstGeom>
          <a:noFill/>
        </p:spPr>
        <p:txBody>
          <a:bodyPr wrap="square">
            <a:spAutoFit/>
          </a:bodyPr>
          <a:lstStyle/>
          <a:p>
            <a:pPr algn="l">
              <a:lnSpc>
                <a:spcPct val="115000"/>
              </a:lnSpc>
              <a:spcAft>
                <a:spcPts val="300"/>
              </a:spcAft>
            </a:pPr>
            <a:r>
              <a:rPr sz="1200" b="1">
                <a:solidFill>
                  <a:srgbClr val="2563EB"/>
                </a:solidFill>
                <a:latin typeface="Segoe UI"/>
              </a:rPr>
              <a:t>DEMO IT LIVE</a:t>
            </a:r>
          </a:p>
          <a:p>
            <a:pPr algn="l">
              <a:lnSpc>
                <a:spcPct val="115000"/>
              </a:lnSpc>
              <a:spcAft>
                <a:spcPts val="300"/>
              </a:spcAft>
            </a:pPr>
            <a:r>
              <a:rPr sz="1600" b="0">
                <a:solidFill>
                  <a:srgbClr val="374151"/>
                </a:solidFill>
                <a:latin typeface="Segoe UI"/>
              </a:rPr>
              <a:t>https://venkatvellapalem.github.io/DevSecOps/</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We did not just follow the brief — we audited it</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ten defects found by running it, not reading it</a:t>
            </a:r>
          </a:p>
        </p:txBody>
      </p:sp>
      <p:sp>
        <p:nvSpPr>
          <p:cNvPr id="5" name="TextBox 4"/>
          <p:cNvSpPr txBox="1"/>
          <p:nvPr/>
        </p:nvSpPr>
        <p:spPr>
          <a:xfrm>
            <a:off x="685800" y="1691640"/>
            <a:ext cx="10789920" cy="4206240"/>
          </a:xfrm>
          <a:prstGeom prst="rect">
            <a:avLst/>
          </a:prstGeom>
          <a:noFill/>
        </p:spPr>
        <p:txBody>
          <a:bodyPr wrap="square">
            <a:spAutoFit/>
          </a:bodyPr>
          <a:lstStyle/>
          <a:p>
            <a:pPr algn="l">
              <a:lnSpc>
                <a:spcPct val="115000"/>
              </a:lnSpc>
              <a:spcAft>
                <a:spcPts val="1300"/>
              </a:spcAft>
            </a:pPr>
            <a:r>
              <a:rPr sz="1700" b="1">
                <a:solidFill>
                  <a:srgbClr val="2563EB"/>
                </a:solidFill>
                <a:latin typeface="Segoe UI"/>
              </a:rPr>
              <a:t>▪  </a:t>
            </a:r>
            <a:r>
              <a:rPr sz="1700" b="1">
                <a:solidFill>
                  <a:srgbClr val="111827"/>
                </a:solidFill>
                <a:latin typeface="Segoe UI"/>
              </a:rPr>
              <a:t>Two gates could never pass.  </a:t>
            </a:r>
            <a:r>
              <a:rPr sz="1700" b="0">
                <a:solidFill>
                  <a:srgbClr val="374151"/>
                </a:solidFill>
                <a:latin typeface="Segoe UI"/>
              </a:rPr>
              <a:t>The spec's Trivy config failed on 44 unfixable operating-system CVEs, and its Bandit config tripped on its own sample code.</a:t>
            </a:r>
          </a:p>
          <a:p>
            <a:pPr algn="l">
              <a:lnSpc>
                <a:spcPct val="115000"/>
              </a:lnSpc>
              <a:spcAft>
                <a:spcPts val="1300"/>
              </a:spcAft>
            </a:pPr>
            <a:r>
              <a:rPr sz="1700" b="1">
                <a:solidFill>
                  <a:srgbClr val="2563EB"/>
                </a:solidFill>
                <a:latin typeface="Segoe UI"/>
              </a:rPr>
              <a:t>▪  </a:t>
            </a:r>
            <a:r>
              <a:rPr sz="1700" b="1">
                <a:solidFill>
                  <a:srgbClr val="111827"/>
                </a:solidFill>
                <a:latin typeface="Segoe UI"/>
              </a:rPr>
              <a:t>One rubric item was unwinnable.  </a:t>
            </a:r>
            <a:r>
              <a:rPr sz="1700" b="0">
                <a:solidFill>
                  <a:srgbClr val="374151"/>
                </a:solidFill>
                <a:latin typeface="Segoe UI"/>
              </a:rPr>
              <a:t>The brief plants a vulnerable dependency for SCA but nothing for SAST, so "demonstrably functional SAST gate" could never be shown.</a:t>
            </a:r>
          </a:p>
          <a:p>
            <a:pPr algn="l">
              <a:lnSpc>
                <a:spcPct val="115000"/>
              </a:lnSpc>
              <a:spcAft>
                <a:spcPts val="1300"/>
              </a:spcAft>
            </a:pPr>
            <a:r>
              <a:rPr sz="1700" b="1">
                <a:solidFill>
                  <a:srgbClr val="2563EB"/>
                </a:solidFill>
                <a:latin typeface="Segoe UI"/>
              </a:rPr>
              <a:t>▪  </a:t>
            </a:r>
            <a:r>
              <a:rPr sz="1700" b="1">
                <a:solidFill>
                  <a:srgbClr val="111827"/>
                </a:solidFill>
                <a:latin typeface="Segoe UI"/>
              </a:rPr>
              <a:t>It scanned one artifact and shipped another.  </a:t>
            </a:r>
            <a:r>
              <a:rPr sz="1700" b="0">
                <a:solidFill>
                  <a:srgbClr val="374151"/>
                </a:solidFill>
                <a:latin typeface="Segoe UI"/>
              </a:rPr>
              <a:t>The deploy job rebuilt the image, so the scan was theatre.</a:t>
            </a:r>
          </a:p>
          <a:p>
            <a:pPr algn="l">
              <a:lnSpc>
                <a:spcPct val="115000"/>
              </a:lnSpc>
              <a:spcAft>
                <a:spcPts val="1300"/>
              </a:spcAft>
            </a:pPr>
            <a:r>
              <a:rPr sz="1700" b="1">
                <a:solidFill>
                  <a:srgbClr val="2563EB"/>
                </a:solidFill>
                <a:latin typeface="Segoe UI"/>
              </a:rPr>
              <a:t>▪  </a:t>
            </a:r>
            <a:r>
              <a:rPr sz="1700" b="1">
                <a:solidFill>
                  <a:srgbClr val="111827"/>
                </a:solidFill>
                <a:latin typeface="Segoe UI"/>
              </a:rPr>
              <a:t>It ran an unpinned third-party action.  </a:t>
            </a:r>
            <a:r>
              <a:rPr sz="1700" b="0">
                <a:solidFill>
                  <a:srgbClr val="374151"/>
                </a:solidFill>
                <a:latin typeface="Segoe UI"/>
              </a:rPr>
              <a:t>@master, with access to the workflow token, inside a project about supply-chain security.</a:t>
            </a:r>
          </a:p>
        </p:txBody>
      </p:sp>
      <p:sp>
        <p:nvSpPr>
          <p:cNvPr id="6" name="Rounded Rectangle 5"/>
          <p:cNvSpPr/>
          <p:nvPr/>
        </p:nvSpPr>
        <p:spPr>
          <a:xfrm>
            <a:off x="685800" y="47091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37176"/>
            <a:ext cx="10241280" cy="1005840"/>
          </a:xfrm>
          <a:prstGeom prst="rect">
            <a:avLst/>
          </a:prstGeom>
          <a:noFill/>
        </p:spPr>
        <p:txBody>
          <a:bodyPr wrap="square">
            <a:spAutoFit/>
          </a:bodyPr>
          <a:lstStyle/>
          <a:p>
            <a:pPr algn="l">
              <a:lnSpc>
                <a:spcPct val="115000"/>
              </a:lnSpc>
              <a:spcAft>
                <a:spcPts val="300"/>
              </a:spcAft>
            </a:pPr>
            <a:r>
              <a:rPr sz="1200" b="1">
                <a:solidFill>
                  <a:srgbClr val="DC2626"/>
                </a:solidFill>
                <a:latin typeface="Segoe UI"/>
              </a:rPr>
              <a:t>WHY THIS MATTERS</a:t>
            </a:r>
          </a:p>
          <a:p>
            <a:pPr algn="l">
              <a:lnSpc>
                <a:spcPct val="115000"/>
              </a:lnSpc>
              <a:spcAft>
                <a:spcPts val="300"/>
              </a:spcAft>
            </a:pPr>
            <a:r>
              <a:rPr sz="1600" b="0">
                <a:solidFill>
                  <a:srgbClr val="374151"/>
                </a:solidFill>
                <a:latin typeface="Segoe UI"/>
              </a:rPr>
              <a:t>Two gates that are always red teach people to bypass gates. A gate people route around is worse than no gate at all.</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What this does not catch</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say this before you are asked</a:t>
            </a:r>
          </a:p>
        </p:txBody>
      </p:sp>
      <p:sp>
        <p:nvSpPr>
          <p:cNvPr id="5" name="TextBox 4"/>
          <p:cNvSpPr txBox="1"/>
          <p:nvPr/>
        </p:nvSpPr>
        <p:spPr>
          <a:xfrm>
            <a:off x="685800" y="1691640"/>
            <a:ext cx="10789920" cy="4206240"/>
          </a:xfrm>
          <a:prstGeom prst="rect">
            <a:avLst/>
          </a:prstGeom>
          <a:noFill/>
        </p:spPr>
        <p:txBody>
          <a:bodyPr wrap="square">
            <a:spAutoFit/>
          </a:bodyPr>
          <a:lstStyle/>
          <a:p>
            <a:pPr algn="l">
              <a:lnSpc>
                <a:spcPct val="115000"/>
              </a:lnSpc>
              <a:spcAft>
                <a:spcPts val="1300"/>
              </a:spcAft>
            </a:pPr>
            <a:r>
              <a:rPr sz="1700" b="1">
                <a:solidFill>
                  <a:srgbClr val="2563EB"/>
                </a:solidFill>
                <a:latin typeface="Segoe UI"/>
              </a:rPr>
              <a:t>▪  </a:t>
            </a:r>
            <a:r>
              <a:rPr sz="1700" b="1">
                <a:solidFill>
                  <a:srgbClr val="111827"/>
                </a:solidFill>
                <a:latin typeface="Segoe UI"/>
              </a:rPr>
              <a:t>Runtime attacks.  </a:t>
            </a:r>
            <a:r>
              <a:rPr sz="1700" b="0">
                <a:solidFill>
                  <a:srgbClr val="374151"/>
                </a:solidFill>
                <a:latin typeface="Segoe UI"/>
              </a:rPr>
              <a:t>A clean image can still be exploited while running. This is a build-time check, not a firewall and not monitoring.</a:t>
            </a:r>
          </a:p>
          <a:p>
            <a:pPr algn="l">
              <a:lnSpc>
                <a:spcPct val="115000"/>
              </a:lnSpc>
              <a:spcAft>
                <a:spcPts val="1300"/>
              </a:spcAft>
            </a:pPr>
            <a:r>
              <a:rPr sz="1700" b="1">
                <a:solidFill>
                  <a:srgbClr val="2563EB"/>
                </a:solidFill>
                <a:latin typeface="Segoe UI"/>
              </a:rPr>
              <a:t>▪  </a:t>
            </a:r>
            <a:r>
              <a:rPr sz="1700" b="1">
                <a:solidFill>
                  <a:srgbClr val="111827"/>
                </a:solidFill>
                <a:latin typeface="Segoe UI"/>
              </a:rPr>
              <a:t>Logic flaws.  </a:t>
            </a:r>
            <a:r>
              <a:rPr sz="1700" b="0">
                <a:solidFill>
                  <a:srgbClr val="374151"/>
                </a:solidFill>
                <a:latin typeface="Segoe UI"/>
              </a:rPr>
              <a:t>Broken access control and business-logic abuse look perfectly fine to a pattern matcher.</a:t>
            </a:r>
          </a:p>
          <a:p>
            <a:pPr algn="l">
              <a:lnSpc>
                <a:spcPct val="115000"/>
              </a:lnSpc>
              <a:spcAft>
                <a:spcPts val="1300"/>
              </a:spcAft>
            </a:pPr>
            <a:r>
              <a:rPr sz="1700" b="1">
                <a:solidFill>
                  <a:srgbClr val="2563EB"/>
                </a:solidFill>
                <a:latin typeface="Segoe UI"/>
              </a:rPr>
              <a:t>▪  </a:t>
            </a:r>
            <a:r>
              <a:rPr sz="1700" b="1">
                <a:solidFill>
                  <a:srgbClr val="111827"/>
                </a:solidFill>
                <a:latin typeface="Segoe UI"/>
              </a:rPr>
              <a:t>Configuration drift.  </a:t>
            </a:r>
            <a:r>
              <a:rPr sz="1700" b="0">
                <a:solidFill>
                  <a:srgbClr val="374151"/>
                </a:solidFill>
                <a:latin typeface="Segoe UI"/>
              </a:rPr>
              <a:t>Nothing here enforces that production matches the repository.</a:t>
            </a:r>
          </a:p>
          <a:p>
            <a:pPr algn="l">
              <a:lnSpc>
                <a:spcPct val="115000"/>
              </a:lnSpc>
              <a:spcAft>
                <a:spcPts val="1300"/>
              </a:spcAft>
            </a:pPr>
            <a:r>
              <a:rPr sz="1700" b="1">
                <a:solidFill>
                  <a:srgbClr val="2563EB"/>
                </a:solidFill>
                <a:latin typeface="Segoe UI"/>
              </a:rPr>
              <a:t>▪  </a:t>
            </a:r>
            <a:r>
              <a:rPr sz="1700" b="1">
                <a:solidFill>
                  <a:srgbClr val="111827"/>
                </a:solidFill>
                <a:latin typeface="Segoe UI"/>
              </a:rPr>
              <a:t>Time.  </a:t>
            </a:r>
            <a:r>
              <a:rPr sz="1700" b="0">
                <a:solidFill>
                  <a:srgbClr val="374151"/>
                </a:solidFill>
                <a:latin typeface="Segoe UI"/>
              </a:rPr>
              <a:t>The vulnerability database changes continuously. The same commit can pass today and fail next month with no code change — run 2 proved it.</a:t>
            </a:r>
          </a:p>
        </p:txBody>
      </p:sp>
      <p:sp>
        <p:nvSpPr>
          <p:cNvPr id="6" name="Rounded Rectangle 5"/>
          <p:cNvSpPr/>
          <p:nvPr/>
        </p:nvSpPr>
        <p:spPr>
          <a:xfrm>
            <a:off x="685800" y="47091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37176"/>
            <a:ext cx="10241280" cy="1005840"/>
          </a:xfrm>
          <a:prstGeom prst="rect">
            <a:avLst/>
          </a:prstGeom>
          <a:noFill/>
        </p:spPr>
        <p:txBody>
          <a:bodyPr wrap="square">
            <a:spAutoFit/>
          </a:bodyPr>
          <a:lstStyle/>
          <a:p>
            <a:pPr algn="l">
              <a:lnSpc>
                <a:spcPct val="115000"/>
              </a:lnSpc>
              <a:spcAft>
                <a:spcPts val="300"/>
              </a:spcAft>
            </a:pPr>
            <a:r>
              <a:rPr sz="1200" b="1">
                <a:solidFill>
                  <a:srgbClr val="6B7280"/>
                </a:solidFill>
                <a:latin typeface="Segoe UI"/>
              </a:rPr>
              <a:t>WHY VOLUNTEER THIS</a:t>
            </a:r>
          </a:p>
          <a:p>
            <a:pPr algn="l">
              <a:lnSpc>
                <a:spcPct val="115000"/>
              </a:lnSpc>
              <a:spcAft>
                <a:spcPts val="300"/>
              </a:spcAft>
            </a:pPr>
            <a:r>
              <a:rPr sz="1600" b="0">
                <a:solidFill>
                  <a:srgbClr val="374151"/>
                </a:solidFill>
                <a:latin typeface="Segoe UI"/>
              </a:rPr>
              <a:t>A green pipeline is a statement about a moment, not a guarantee. Being caught not knowing that reads far worse than saying it first.</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Running it on our own hardware</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pull-based, pinned by digest</a:t>
            </a:r>
          </a:p>
        </p:txBody>
      </p:sp>
      <p:sp>
        <p:nvSpPr>
          <p:cNvPr id="5" name="TextBox 4"/>
          <p:cNvSpPr txBox="1"/>
          <p:nvPr/>
        </p:nvSpPr>
        <p:spPr>
          <a:xfrm>
            <a:off x="685800" y="1691640"/>
            <a:ext cx="10789920" cy="4206240"/>
          </a:xfrm>
          <a:prstGeom prst="rect">
            <a:avLst/>
          </a:prstGeom>
          <a:noFill/>
        </p:spPr>
        <p:txBody>
          <a:bodyPr wrap="square">
            <a:spAutoFit/>
          </a:bodyPr>
          <a:lstStyle/>
          <a:p>
            <a:pPr algn="l">
              <a:lnSpc>
                <a:spcPct val="115000"/>
              </a:lnSpc>
              <a:spcAft>
                <a:spcPts val="1300"/>
              </a:spcAft>
            </a:pPr>
            <a:r>
              <a:rPr sz="1700" b="1">
                <a:solidFill>
                  <a:srgbClr val="2563EB"/>
                </a:solidFill>
                <a:latin typeface="Segoe UI"/>
              </a:rPr>
              <a:t>▪  </a:t>
            </a:r>
            <a:r>
              <a:rPr sz="1700" b="1">
                <a:solidFill>
                  <a:srgbClr val="111827"/>
                </a:solidFill>
                <a:latin typeface="Segoe UI"/>
              </a:rPr>
              <a:t>Deploy by digest, not by tag.  </a:t>
            </a:r>
            <a:r>
              <a:rPr sz="1700" b="0">
                <a:solidFill>
                  <a:srgbClr val="374151"/>
                </a:solidFill>
                <a:latin typeface="Segoe UI"/>
              </a:rPr>
              <a:t>latest is mutable — pulling it an hour later can hand you different bytes than the ones that were scanned.</a:t>
            </a:r>
          </a:p>
          <a:p>
            <a:pPr algn="l">
              <a:lnSpc>
                <a:spcPct val="115000"/>
              </a:lnSpc>
              <a:spcAft>
                <a:spcPts val="1300"/>
              </a:spcAft>
            </a:pPr>
            <a:r>
              <a:rPr sz="1700" b="1">
                <a:solidFill>
                  <a:srgbClr val="2563EB"/>
                </a:solidFill>
                <a:latin typeface="Segoe UI"/>
              </a:rPr>
              <a:t>▪  </a:t>
            </a:r>
            <a:r>
              <a:rPr sz="1700" b="1">
                <a:solidFill>
                  <a:srgbClr val="111827"/>
                </a:solidFill>
                <a:latin typeface="Segoe UI"/>
              </a:rPr>
              <a:t>Pull, do not push.  </a:t>
            </a:r>
            <a:r>
              <a:rPr sz="1700" b="0">
                <a:solidFill>
                  <a:srgbClr val="374151"/>
                </a:solidFill>
                <a:latin typeface="Segoe UI"/>
              </a:rPr>
              <a:t>The host polls the registry. No inbound port, and no self-hosted runner.</a:t>
            </a:r>
          </a:p>
          <a:p>
            <a:pPr algn="l">
              <a:lnSpc>
                <a:spcPct val="115000"/>
              </a:lnSpc>
              <a:spcAft>
                <a:spcPts val="1300"/>
              </a:spcAft>
            </a:pPr>
            <a:r>
              <a:rPr sz="1700" b="1">
                <a:solidFill>
                  <a:srgbClr val="2563EB"/>
                </a:solidFill>
                <a:latin typeface="Segoe UI"/>
              </a:rPr>
              <a:t>▪  </a:t>
            </a:r>
            <a:r>
              <a:rPr sz="1700" b="1">
                <a:solidFill>
                  <a:srgbClr val="111827"/>
                </a:solidFill>
                <a:latin typeface="Segoe UI"/>
              </a:rPr>
              <a:t>Why not a self-hosted runner:  </a:t>
            </a:r>
            <a:r>
              <a:rPr sz="1700" b="0">
                <a:solidFill>
                  <a:srgbClr val="374151"/>
                </a:solidFill>
                <a:latin typeface="Segoe UI"/>
              </a:rPr>
              <a:t>this repository is public, and a runner executes workflow code from any fork's pull request.</a:t>
            </a:r>
          </a:p>
          <a:p>
            <a:pPr algn="l">
              <a:lnSpc>
                <a:spcPct val="115000"/>
              </a:lnSpc>
              <a:spcAft>
                <a:spcPts val="1300"/>
              </a:spcAft>
            </a:pPr>
            <a:r>
              <a:rPr sz="1700" b="1">
                <a:solidFill>
                  <a:srgbClr val="2563EB"/>
                </a:solidFill>
                <a:latin typeface="Segoe UI"/>
              </a:rPr>
              <a:t>▪  </a:t>
            </a:r>
            <a:r>
              <a:rPr sz="1700" b="1">
                <a:solidFill>
                  <a:srgbClr val="111827"/>
                </a:solidFill>
                <a:latin typeface="Segoe UI"/>
              </a:rPr>
              <a:t>Rollback is a digest.  </a:t>
            </a:r>
            <a:r>
              <a:rPr sz="1700" b="0">
                <a:solidFill>
                  <a:srgbClr val="374151"/>
                </a:solidFill>
                <a:latin typeface="Segoe UI"/>
              </a:rPr>
              <a:t>./deploy/update.sh --rollback returns to the previous image in seconds, without rebuilding anything.</a:t>
            </a:r>
          </a:p>
        </p:txBody>
      </p:sp>
      <p:sp>
        <p:nvSpPr>
          <p:cNvPr id="6" name="Rounded Rectangle 5"/>
          <p:cNvSpPr/>
          <p:nvPr/>
        </p:nvSpPr>
        <p:spPr>
          <a:xfrm>
            <a:off x="685800" y="470916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37176"/>
            <a:ext cx="10241280" cy="1005840"/>
          </a:xfrm>
          <a:prstGeom prst="rect">
            <a:avLst/>
          </a:prstGeom>
          <a:noFill/>
        </p:spPr>
        <p:txBody>
          <a:bodyPr wrap="square">
            <a:spAutoFit/>
          </a:bodyPr>
          <a:lstStyle/>
          <a:p>
            <a:pPr algn="l">
              <a:lnSpc>
                <a:spcPct val="115000"/>
              </a:lnSpc>
              <a:spcAft>
                <a:spcPts val="300"/>
              </a:spcAft>
            </a:pPr>
            <a:r>
              <a:rPr sz="1200" b="1">
                <a:solidFill>
                  <a:srgbClr val="15803D"/>
                </a:solidFill>
                <a:latin typeface="Segoe UI"/>
              </a:rPr>
              <a:t>HARDENING ALREADY APPLIED</a:t>
            </a:r>
          </a:p>
          <a:p>
            <a:pPr algn="l">
              <a:lnSpc>
                <a:spcPct val="115000"/>
              </a:lnSpc>
              <a:spcAft>
                <a:spcPts val="300"/>
              </a:spcAft>
            </a:pPr>
            <a:r>
              <a:rPr sz="1600" b="0">
                <a:solidFill>
                  <a:srgbClr val="374151"/>
                </a:solidFill>
                <a:latin typeface="Segoe UI"/>
              </a:rPr>
              <a:t>non-root (uid 10001)  ·  cap_drop: ALL  ·  no-new-privileges  ·  healthcheck  ·  restart unless-stopped</a:t>
            </a:r>
          </a:p>
        </p:txBody>
      </p:sp>
      <p:sp>
        <p:nvSpPr>
          <p:cNvPr id="8" name="TextBox 7"/>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Any repository can adopt this in 12 lines</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no scanner installs, no configuration, no secrets</a:t>
            </a:r>
          </a:p>
        </p:txBody>
      </p:sp>
      <p:sp>
        <p:nvSpPr>
          <p:cNvPr id="5" name="Rounded Rectangle 4"/>
          <p:cNvSpPr/>
          <p:nvPr/>
        </p:nvSpPr>
        <p:spPr>
          <a:xfrm>
            <a:off x="685800" y="1600200"/>
            <a:ext cx="10817352" cy="214884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10512"/>
            <a:ext cx="10241280" cy="1828800"/>
          </a:xfrm>
          <a:prstGeom prst="rect">
            <a:avLst/>
          </a:prstGeom>
          <a:noFill/>
        </p:spPr>
        <p:txBody>
          <a:bodyPr wrap="square">
            <a:spAutoFit/>
          </a:bodyPr>
          <a:lstStyle/>
          <a:p>
            <a:pPr algn="l">
              <a:lnSpc>
                <a:spcPct val="115000"/>
              </a:lnSpc>
              <a:spcAft>
                <a:spcPts val="200"/>
              </a:spcAft>
            </a:pPr>
            <a:r>
              <a:rPr sz="1400" b="0">
                <a:solidFill>
                  <a:srgbClr val="7DD3FC"/>
                </a:solidFill>
                <a:latin typeface="Segoe UI"/>
              </a:rPr>
              <a:t>jobs:</a:t>
            </a:r>
          </a:p>
          <a:p>
            <a:pPr algn="l">
              <a:lnSpc>
                <a:spcPct val="115000"/>
              </a:lnSpc>
              <a:spcAft>
                <a:spcPts val="200"/>
              </a:spcAft>
            </a:pPr>
            <a:r>
              <a:rPr sz="1400" b="0">
                <a:solidFill>
                  <a:srgbClr val="7DD3FC"/>
                </a:solidFill>
                <a:latin typeface="Segoe UI"/>
              </a:rPr>
              <a:t>  gates:</a:t>
            </a:r>
          </a:p>
          <a:p>
            <a:pPr algn="l">
              <a:lnSpc>
                <a:spcPct val="115000"/>
              </a:lnSpc>
              <a:spcAft>
                <a:spcPts val="200"/>
              </a:spcAft>
            </a:pPr>
            <a:r>
              <a:rPr sz="1400" b="0">
                <a:solidFill>
                  <a:srgbClr val="7DD3FC"/>
                </a:solidFill>
                <a:latin typeface="Segoe UI"/>
              </a:rPr>
              <a:t>    uses: venkatvellapalem/DevSecOps/.github/workflows/security-gates.yml@v1</a:t>
            </a:r>
          </a:p>
          <a:p>
            <a:pPr algn="l">
              <a:lnSpc>
                <a:spcPct val="115000"/>
              </a:lnSpc>
              <a:spcAft>
                <a:spcPts val="200"/>
              </a:spcAft>
            </a:pPr>
            <a:r>
              <a:rPr sz="1400" b="0">
                <a:solidFill>
                  <a:srgbClr val="94A3B8"/>
                </a:solidFill>
                <a:latin typeface="Segoe UI"/>
              </a:rPr>
              <a:t>    with:</a:t>
            </a:r>
          </a:p>
          <a:p>
            <a:pPr algn="l">
              <a:lnSpc>
                <a:spcPct val="115000"/>
              </a:lnSpc>
              <a:spcAft>
                <a:spcPts val="200"/>
              </a:spcAft>
            </a:pPr>
            <a:r>
              <a:rPr sz="1400" b="0">
                <a:solidFill>
                  <a:srgbClr val="94A3B8"/>
                </a:solidFill>
                <a:latin typeface="Segoe UI"/>
              </a:rPr>
              <a:t>      dockerfile: Dockerfile   ·   source-path: src</a:t>
            </a:r>
          </a:p>
          <a:p>
            <a:pPr algn="l">
              <a:lnSpc>
                <a:spcPct val="115000"/>
              </a:lnSpc>
              <a:spcAft>
                <a:spcPts val="200"/>
              </a:spcAft>
            </a:pPr>
            <a:r>
              <a:rPr sz="1400" b="0">
                <a:solidFill>
                  <a:srgbClr val="94A3B8"/>
                </a:solidFill>
                <a:latin typeface="Segoe UI"/>
              </a:rPr>
              <a:t>      requirements: requirements.txt</a:t>
            </a:r>
          </a:p>
        </p:txBody>
      </p:sp>
      <p:sp>
        <p:nvSpPr>
          <p:cNvPr id="7" name="TextBox 6"/>
          <p:cNvSpPr txBox="1"/>
          <p:nvPr/>
        </p:nvSpPr>
        <p:spPr>
          <a:xfrm>
            <a:off x="685800" y="3977639"/>
            <a:ext cx="10789920" cy="4206240"/>
          </a:xfrm>
          <a:prstGeom prst="rect">
            <a:avLst/>
          </a:prstGeom>
          <a:noFill/>
        </p:spPr>
        <p:txBody>
          <a:bodyPr wrap="square">
            <a:spAutoFit/>
          </a:bodyPr>
          <a:lstStyle/>
          <a:p>
            <a:pPr algn="l">
              <a:lnSpc>
                <a:spcPct val="115000"/>
              </a:lnSpc>
              <a:spcAft>
                <a:spcPts val="1300"/>
              </a:spcAft>
            </a:pPr>
            <a:r>
              <a:rPr sz="1600" b="1">
                <a:solidFill>
                  <a:srgbClr val="2563EB"/>
                </a:solidFill>
                <a:latin typeface="Segoe UI"/>
              </a:rPr>
              <a:t>▪  </a:t>
            </a:r>
            <a:r>
              <a:rPr sz="1600" b="1">
                <a:solidFill>
                  <a:srgbClr val="111827"/>
                </a:solidFill>
                <a:latin typeface="Segoe UI"/>
              </a:rPr>
              <a:t>Verified.  </a:t>
            </a:r>
            <a:r>
              <a:rPr sz="1600" b="0">
                <a:solidFill>
                  <a:srgbClr val="374151"/>
                </a:solidFill>
                <a:latin typeface="Segoe UI"/>
              </a:rPr>
              <a:t>Tested from a separate repository with an unrelated app — it found B602 in their code, 40 dependency CVEs, and fixable image CVEs.</a:t>
            </a:r>
          </a:p>
          <a:p>
            <a:pPr algn="l">
              <a:lnSpc>
                <a:spcPct val="115000"/>
              </a:lnSpc>
              <a:spcAft>
                <a:spcPts val="1300"/>
              </a:spcAft>
            </a:pPr>
            <a:r>
              <a:rPr sz="1600" b="1">
                <a:solidFill>
                  <a:srgbClr val="2563EB"/>
                </a:solidFill>
                <a:latin typeface="Segoe UI"/>
              </a:rPr>
              <a:t>▪  </a:t>
            </a:r>
            <a:r>
              <a:rPr sz="1600" b="1">
                <a:solidFill>
                  <a:srgbClr val="111827"/>
                </a:solidFill>
                <a:latin typeface="Segoe UI"/>
              </a:rPr>
              <a:t>Portable because  </a:t>
            </a:r>
            <a:r>
              <a:rPr sz="1600" b="0">
                <a:solidFill>
                  <a:srgbClr val="374151"/>
                </a:solidFill>
                <a:latin typeface="Segoe UI"/>
              </a:rPr>
              <a:t>the github context comes from the caller, so checkout pulls their code, not ours.</a:t>
            </a:r>
          </a:p>
        </p:txBody>
      </p:sp>
      <p:sp>
        <p:nvSpPr>
          <p:cNvPr id="8" name="Rounded Rectangle 7"/>
          <p:cNvSpPr/>
          <p:nvPr/>
        </p:nvSpPr>
        <p:spPr>
          <a:xfrm>
            <a:off x="685800" y="5257800"/>
            <a:ext cx="10817352" cy="1234440"/>
          </a:xfrm>
          <a:prstGeom prst="roundRect">
            <a:avLst/>
          </a:prstGeom>
          <a:solidFill>
            <a:srgbClr val="F9FAFB"/>
          </a:solidFill>
          <a:ln w="1587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385816"/>
            <a:ext cx="10241280" cy="1005840"/>
          </a:xfrm>
          <a:prstGeom prst="rect">
            <a:avLst/>
          </a:prstGeom>
          <a:noFill/>
        </p:spPr>
        <p:txBody>
          <a:bodyPr wrap="square">
            <a:spAutoFit/>
          </a:bodyPr>
          <a:lstStyle/>
          <a:p>
            <a:pPr algn="l">
              <a:lnSpc>
                <a:spcPct val="115000"/>
              </a:lnSpc>
              <a:spcAft>
                <a:spcPts val="300"/>
              </a:spcAft>
            </a:pPr>
            <a:r>
              <a:rPr sz="1200" b="1">
                <a:solidFill>
                  <a:srgbClr val="DC2626"/>
                </a:solidFill>
                <a:latin typeface="Segoe UI"/>
              </a:rPr>
              <a:t>THE TRAP</a:t>
            </a:r>
          </a:p>
          <a:p>
            <a:pPr algn="l">
              <a:lnSpc>
                <a:spcPct val="115000"/>
              </a:lnSpc>
              <a:spcAft>
                <a:spcPts val="300"/>
              </a:spcAft>
            </a:pPr>
            <a:r>
              <a:rPr sz="1600" b="0">
                <a:solidFill>
                  <a:srgbClr val="374151"/>
                </a:solidFill>
                <a:latin typeface="Segoe UI"/>
              </a:rPr>
              <a:t>GITHUB_TOKEN permissions do not cross a workflow boundary — a caller wanting to push must grant packages: write itself.</a:t>
            </a:r>
          </a:p>
        </p:txBody>
      </p:sp>
      <p:sp>
        <p:nvSpPr>
          <p:cNvPr id="10" name="TextBox 9"/>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374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789920" cy="640080"/>
          </a:xfrm>
          <a:prstGeom prst="rect">
            <a:avLst/>
          </a:prstGeom>
          <a:noFill/>
        </p:spPr>
        <p:txBody>
          <a:bodyPr wrap="square">
            <a:spAutoFit/>
          </a:bodyPr>
          <a:lstStyle/>
          <a:p>
            <a:pPr algn="l">
              <a:lnSpc>
                <a:spcPct val="115000"/>
              </a:lnSpc>
              <a:spcAft>
                <a:spcPts val="0"/>
              </a:spcAft>
            </a:pPr>
            <a:r>
              <a:rPr sz="3300" b="1">
                <a:solidFill>
                  <a:srgbClr val="111827"/>
                </a:solidFill>
                <a:latin typeface="Segoe UI"/>
              </a:rPr>
              <a:t>The vocabulary, in one place</a:t>
            </a:r>
          </a:p>
        </p:txBody>
      </p:sp>
      <p:sp>
        <p:nvSpPr>
          <p:cNvPr id="4" name="TextBox 3"/>
          <p:cNvSpPr txBox="1"/>
          <p:nvPr/>
        </p:nvSpPr>
        <p:spPr>
          <a:xfrm>
            <a:off x="566928" y="1024128"/>
            <a:ext cx="10789920" cy="457200"/>
          </a:xfrm>
          <a:prstGeom prst="rect">
            <a:avLst/>
          </a:prstGeom>
          <a:noFill/>
        </p:spPr>
        <p:txBody>
          <a:bodyPr wrap="square">
            <a:spAutoFit/>
          </a:bodyPr>
          <a:lstStyle/>
          <a:p>
            <a:pPr algn="l">
              <a:lnSpc>
                <a:spcPct val="115000"/>
              </a:lnSpc>
              <a:spcAft>
                <a:spcPts val="0"/>
              </a:spcAft>
            </a:pPr>
            <a:r>
              <a:rPr sz="1600" b="0">
                <a:solidFill>
                  <a:srgbClr val="6B7280"/>
                </a:solidFill>
                <a:latin typeface="Segoe UI"/>
              </a:rPr>
              <a:t>so nobody has to nod along at an acronym</a:t>
            </a:r>
          </a:p>
        </p:txBody>
      </p:sp>
      <p:sp>
        <p:nvSpPr>
          <p:cNvPr id="5" name="TextBox 4"/>
          <p:cNvSpPr txBox="1"/>
          <p:nvPr/>
        </p:nvSpPr>
        <p:spPr>
          <a:xfrm>
            <a:off x="777240" y="1645920"/>
            <a:ext cx="10607040" cy="4480560"/>
          </a:xfrm>
          <a:prstGeom prst="rect">
            <a:avLst/>
          </a:prstGeom>
          <a:noFill/>
        </p:spPr>
        <p:txBody>
          <a:bodyPr wrap="square">
            <a:spAutoFit/>
          </a:bodyPr>
          <a:lstStyle/>
          <a:p>
            <a:pPr algn="l">
              <a:lnSpc>
                <a:spcPct val="115000"/>
              </a:lnSpc>
              <a:spcAft>
                <a:spcPts val="700"/>
              </a:spcAft>
            </a:pPr>
            <a:r>
              <a:rPr sz="1500" b="1">
                <a:solidFill>
                  <a:srgbClr val="111827"/>
                </a:solidFill>
                <a:latin typeface="Segoe UI"/>
              </a:rPr>
              <a:t>CI / CD</a:t>
            </a:r>
            <a:r>
              <a:rPr sz="1500" b="0">
                <a:solidFill>
                  <a:srgbClr val="6B7280"/>
                </a:solidFill>
                <a:latin typeface="Segoe UI"/>
              </a:rPr>
              <a:t>   —   automatically build and ship on every push</a:t>
            </a:r>
          </a:p>
          <a:p>
            <a:pPr algn="l">
              <a:lnSpc>
                <a:spcPct val="115000"/>
              </a:lnSpc>
              <a:spcAft>
                <a:spcPts val="700"/>
              </a:spcAft>
            </a:pPr>
            <a:r>
              <a:rPr sz="1500" b="1">
                <a:solidFill>
                  <a:srgbClr val="111827"/>
                </a:solidFill>
                <a:latin typeface="Segoe UI"/>
              </a:rPr>
              <a:t>SAST</a:t>
            </a:r>
            <a:r>
              <a:rPr sz="1500" b="0">
                <a:solidFill>
                  <a:srgbClr val="6B7280"/>
                </a:solidFill>
                <a:latin typeface="Segoe UI"/>
              </a:rPr>
              <a:t>   —   scan the source you wrote</a:t>
            </a:r>
          </a:p>
          <a:p>
            <a:pPr algn="l">
              <a:lnSpc>
                <a:spcPct val="115000"/>
              </a:lnSpc>
              <a:spcAft>
                <a:spcPts val="700"/>
              </a:spcAft>
            </a:pPr>
            <a:r>
              <a:rPr sz="1500" b="1">
                <a:solidFill>
                  <a:srgbClr val="111827"/>
                </a:solidFill>
                <a:latin typeface="Segoe UI"/>
              </a:rPr>
              <a:t>SCA</a:t>
            </a:r>
            <a:r>
              <a:rPr sz="1500" b="0">
                <a:solidFill>
                  <a:srgbClr val="6B7280"/>
                </a:solidFill>
                <a:latin typeface="Segoe UI"/>
              </a:rPr>
              <a:t>   —   scan the dependencies you consumed</a:t>
            </a:r>
          </a:p>
          <a:p>
            <a:pPr algn="l">
              <a:lnSpc>
                <a:spcPct val="115000"/>
              </a:lnSpc>
              <a:spcAft>
                <a:spcPts val="700"/>
              </a:spcAft>
            </a:pPr>
            <a:r>
              <a:rPr sz="1500" b="1">
                <a:solidFill>
                  <a:srgbClr val="111827"/>
                </a:solidFill>
                <a:latin typeface="Segoe UI"/>
              </a:rPr>
              <a:t>artifact</a:t>
            </a:r>
            <a:r>
              <a:rPr sz="1500" b="0">
                <a:solidFill>
                  <a:srgbClr val="6B7280"/>
                </a:solidFill>
                <a:latin typeface="Segoe UI"/>
              </a:rPr>
              <a:t>   —   the built thing — here, a container image</a:t>
            </a:r>
          </a:p>
          <a:p>
            <a:pPr algn="l">
              <a:lnSpc>
                <a:spcPct val="115000"/>
              </a:lnSpc>
              <a:spcAft>
                <a:spcPts val="700"/>
              </a:spcAft>
            </a:pPr>
            <a:r>
              <a:rPr sz="1500" b="1">
                <a:solidFill>
                  <a:srgbClr val="111827"/>
                </a:solidFill>
                <a:latin typeface="Segoe UI"/>
              </a:rPr>
              <a:t>digest</a:t>
            </a:r>
            <a:r>
              <a:rPr sz="1500" b="0">
                <a:solidFill>
                  <a:srgbClr val="6B7280"/>
                </a:solidFill>
                <a:latin typeface="Segoe UI"/>
              </a:rPr>
              <a:t>   —   a fingerprint of exact bytes; two images sharing one are identical</a:t>
            </a:r>
          </a:p>
          <a:p>
            <a:pPr algn="l">
              <a:lnSpc>
                <a:spcPct val="115000"/>
              </a:lnSpc>
              <a:spcAft>
                <a:spcPts val="700"/>
              </a:spcAft>
            </a:pPr>
            <a:r>
              <a:rPr sz="1500" b="1">
                <a:solidFill>
                  <a:srgbClr val="111827"/>
                </a:solidFill>
                <a:latin typeface="Segoe UI"/>
              </a:rPr>
              <a:t>registry</a:t>
            </a:r>
            <a:r>
              <a:rPr sz="1500" b="0">
                <a:solidFill>
                  <a:srgbClr val="6B7280"/>
                </a:solidFill>
                <a:latin typeface="Segoe UI"/>
              </a:rPr>
              <a:t>   —   the warehouse images live in — GHCR</a:t>
            </a:r>
          </a:p>
          <a:p>
            <a:pPr algn="l">
              <a:lnSpc>
                <a:spcPct val="115000"/>
              </a:lnSpc>
              <a:spcAft>
                <a:spcPts val="700"/>
              </a:spcAft>
            </a:pPr>
            <a:r>
              <a:rPr sz="1500" b="1">
                <a:solidFill>
                  <a:srgbClr val="111827"/>
                </a:solidFill>
                <a:latin typeface="Segoe UI"/>
              </a:rPr>
              <a:t>immutable</a:t>
            </a:r>
            <a:r>
              <a:rPr sz="1500" b="0">
                <a:solidFill>
                  <a:srgbClr val="6B7280"/>
                </a:solidFill>
                <a:latin typeface="Segoe UI"/>
              </a:rPr>
              <a:t>   —   built once, then never modified, only promoted</a:t>
            </a:r>
          </a:p>
          <a:p>
            <a:pPr algn="l">
              <a:lnSpc>
                <a:spcPct val="115000"/>
              </a:lnSpc>
              <a:spcAft>
                <a:spcPts val="700"/>
              </a:spcAft>
            </a:pPr>
            <a:r>
              <a:rPr sz="1500" b="1">
                <a:solidFill>
                  <a:srgbClr val="111827"/>
                </a:solidFill>
                <a:latin typeface="Segoe UI"/>
              </a:rPr>
              <a:t>provenance</a:t>
            </a:r>
            <a:r>
              <a:rPr sz="1500" b="0">
                <a:solidFill>
                  <a:srgbClr val="6B7280"/>
                </a:solidFill>
                <a:latin typeface="Segoe UI"/>
              </a:rPr>
              <a:t>   —   proof an artifact is the one that was checked</a:t>
            </a:r>
          </a:p>
          <a:p>
            <a:pPr algn="l">
              <a:lnSpc>
                <a:spcPct val="115000"/>
              </a:lnSpc>
              <a:spcAft>
                <a:spcPts val="700"/>
              </a:spcAft>
            </a:pPr>
            <a:r>
              <a:rPr sz="1500" b="1">
                <a:solidFill>
                  <a:srgbClr val="111827"/>
                </a:solidFill>
                <a:latin typeface="Segoe UI"/>
              </a:rPr>
              <a:t>shift left</a:t>
            </a:r>
            <a:r>
              <a:rPr sz="1500" b="0">
                <a:solidFill>
                  <a:srgbClr val="6B7280"/>
                </a:solidFill>
                <a:latin typeface="Segoe UI"/>
              </a:rPr>
              <a:t>   —   move a check earlier, where it is cheap</a:t>
            </a:r>
          </a:p>
          <a:p>
            <a:pPr algn="l">
              <a:lnSpc>
                <a:spcPct val="115000"/>
              </a:lnSpc>
              <a:spcAft>
                <a:spcPts val="700"/>
              </a:spcAft>
            </a:pPr>
            <a:r>
              <a:rPr sz="1500" b="1">
                <a:solidFill>
                  <a:srgbClr val="111827"/>
                </a:solidFill>
                <a:latin typeface="Segoe UI"/>
              </a:rPr>
              <a:t>fail fast</a:t>
            </a:r>
            <a:r>
              <a:rPr sz="1500" b="0">
                <a:solidFill>
                  <a:srgbClr val="6B7280"/>
                </a:solidFill>
                <a:latin typeface="Segoe UI"/>
              </a:rPr>
              <a:t>   —   stop at the first problem instead of carrying it forward</a:t>
            </a:r>
          </a:p>
          <a:p>
            <a:pPr algn="l">
              <a:lnSpc>
                <a:spcPct val="115000"/>
              </a:lnSpc>
              <a:spcAft>
                <a:spcPts val="700"/>
              </a:spcAft>
            </a:pPr>
            <a:r>
              <a:rPr sz="1500" b="1">
                <a:solidFill>
                  <a:srgbClr val="111827"/>
                </a:solidFill>
                <a:latin typeface="Segoe UI"/>
              </a:rPr>
              <a:t>least privilege</a:t>
            </a:r>
            <a:r>
              <a:rPr sz="1500" b="0">
                <a:solidFill>
                  <a:srgbClr val="6B7280"/>
                </a:solidFill>
                <a:latin typeface="Segoe UI"/>
              </a:rPr>
              <a:t>   —   grant only the access actually needed</a:t>
            </a:r>
          </a:p>
        </p:txBody>
      </p:sp>
      <p:sp>
        <p:nvSpPr>
          <p:cNvPr id="6" name="TextBox 5"/>
          <p:cNvSpPr txBox="1"/>
          <p:nvPr/>
        </p:nvSpPr>
        <p:spPr>
          <a:xfrm>
            <a:off x="11064240" y="6355080"/>
            <a:ext cx="822960" cy="274320"/>
          </a:xfrm>
          <a:prstGeom prst="rect">
            <a:avLst/>
          </a:prstGeom>
          <a:noFill/>
        </p:spPr>
        <p:txBody>
          <a:bodyPr wrap="square">
            <a:spAutoFit/>
          </a:bodyPr>
          <a:lstStyle/>
          <a:p>
            <a:pPr algn="r">
              <a:lnSpc>
                <a:spcPct val="115000"/>
              </a:lnSpc>
              <a:spcAft>
                <a:spcPts val="0"/>
              </a:spcAft>
            </a:pPr>
            <a:r>
              <a:rPr sz="1100" b="0">
                <a:solidFill>
                  <a:srgbClr val="9CA3AF"/>
                </a:solidFill>
                <a:latin typeface="Segoe U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914400"/>
          </a:xfrm>
          <a:prstGeom prst="rect">
            <a:avLst/>
          </a:prstGeom>
          <a:noFill/>
        </p:spPr>
        <p:txBody>
          <a:bodyPr wrap="square">
            <a:spAutoFit/>
          </a:bodyPr>
          <a:lstStyle/>
          <a:p>
            <a:pPr algn="l">
              <a:lnSpc>
                <a:spcPct val="115000"/>
              </a:lnSpc>
              <a:spcAft>
                <a:spcPts val="0"/>
              </a:spcAft>
            </a:pPr>
            <a:r>
              <a:rPr sz="3400" b="1">
                <a:solidFill>
                  <a:srgbClr val="FFFFFF"/>
                </a:solidFill>
                <a:latin typeface="Segoe UI"/>
              </a:rPr>
              <a:t>A gate people route around</a:t>
            </a:r>
          </a:p>
          <a:p>
            <a:pPr algn="l">
              <a:lnSpc>
                <a:spcPct val="115000"/>
              </a:lnSpc>
              <a:spcAft>
                <a:spcPts val="0"/>
              </a:spcAft>
            </a:pPr>
            <a:r>
              <a:rPr sz="3400" b="1">
                <a:solidFill>
                  <a:srgbClr val="FFFFFF"/>
                </a:solidFill>
                <a:latin typeface="Segoe UI"/>
              </a:rPr>
              <a:t>is worse than no gate at all.</a:t>
            </a:r>
          </a:p>
        </p:txBody>
      </p:sp>
      <p:sp>
        <p:nvSpPr>
          <p:cNvPr id="5" name="Rectangle 4"/>
          <p:cNvSpPr/>
          <p:nvPr/>
        </p:nvSpPr>
        <p:spPr>
          <a:xfrm>
            <a:off x="914400" y="3291840"/>
            <a:ext cx="2011680" cy="4114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611880"/>
            <a:ext cx="10332720" cy="1463040"/>
          </a:xfrm>
          <a:prstGeom prst="rect">
            <a:avLst/>
          </a:prstGeom>
          <a:noFill/>
        </p:spPr>
        <p:txBody>
          <a:bodyPr wrap="square">
            <a:spAutoFit/>
          </a:bodyPr>
          <a:lstStyle/>
          <a:p>
            <a:pPr algn="l">
              <a:lnSpc>
                <a:spcPct val="115000"/>
              </a:lnSpc>
              <a:spcAft>
                <a:spcPts val="800"/>
              </a:spcAft>
            </a:pPr>
            <a:r>
              <a:rPr sz="1900" b="0">
                <a:solidFill>
                  <a:srgbClr val="CBD5E1"/>
                </a:solidFill>
                <a:latin typeface="Segoe UI"/>
              </a:rPr>
              <a:t>Six gates that can each be shown failing.</a:t>
            </a:r>
          </a:p>
          <a:p>
            <a:pPr algn="l">
              <a:lnSpc>
                <a:spcPct val="115000"/>
              </a:lnSpc>
              <a:spcAft>
                <a:spcPts val="800"/>
              </a:spcAft>
            </a:pPr>
            <a:r>
              <a:rPr sz="1900" b="0">
                <a:solidFill>
                  <a:srgbClr val="CBD5E1"/>
                </a:solidFill>
                <a:latin typeface="Segoe UI"/>
              </a:rPr>
              <a:t>Before-and-after evidence from real runs.</a:t>
            </a:r>
          </a:p>
          <a:p>
            <a:pPr algn="l">
              <a:lnSpc>
                <a:spcPct val="115000"/>
              </a:lnSpc>
              <a:spcAft>
                <a:spcPts val="800"/>
              </a:spcAft>
            </a:pPr>
            <a:r>
              <a:rPr sz="1900" b="0">
                <a:solidFill>
                  <a:srgbClr val="CBD5E1"/>
                </a:solidFill>
                <a:latin typeface="Segoe UI"/>
              </a:rPr>
              <a:t>Provable provenance from commit to running container.</a:t>
            </a:r>
          </a:p>
        </p:txBody>
      </p:sp>
      <p:sp>
        <p:nvSpPr>
          <p:cNvPr id="7" name="TextBox 6"/>
          <p:cNvSpPr txBox="1"/>
          <p:nvPr/>
        </p:nvSpPr>
        <p:spPr>
          <a:xfrm>
            <a:off x="914400" y="5577840"/>
            <a:ext cx="10332720" cy="548640"/>
          </a:xfrm>
          <a:prstGeom prst="rect">
            <a:avLst/>
          </a:prstGeom>
          <a:noFill/>
        </p:spPr>
        <p:txBody>
          <a:bodyPr wrap="square">
            <a:spAutoFit/>
          </a:bodyPr>
          <a:lstStyle/>
          <a:p>
            <a:pPr algn="l">
              <a:lnSpc>
                <a:spcPct val="115000"/>
              </a:lnSpc>
              <a:spcAft>
                <a:spcPts val="0"/>
              </a:spcAft>
            </a:pPr>
            <a:r>
              <a:rPr sz="2200" b="1">
                <a:solidFill>
                  <a:srgbClr val="2563EB"/>
                </a:solidFill>
                <a:latin typeface="Segoe U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